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fif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63" r:id="rId14"/>
    <p:sldId id="271" r:id="rId15"/>
    <p:sldId id="272" r:id="rId16"/>
    <p:sldId id="273" r:id="rId17"/>
    <p:sldId id="274" r:id="rId18"/>
    <p:sldId id="275" r:id="rId19"/>
    <p:sldId id="276" r:id="rId20"/>
    <p:sldId id="264" r:id="rId21"/>
    <p:sldId id="265" r:id="rId22"/>
  </p:sldIdLst>
  <p:sldSz cx="16256000" cy="9144000"/>
  <p:notesSz cx="9144000" cy="16256000"/>
  <p:embeddedFontLst>
    <p:embeddedFont>
      <p:font typeface="Bell MT" panose="02020503060305020303" pitchFamily="18" charset="0"/>
      <p:regular r:id="rId24"/>
      <p:bold r:id="rId25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0F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599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487F-BF33-963F-BA95-27AC55A01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C2D4B-F7DF-16E2-3C83-33710D928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D053D-4C22-EEFC-D87F-21C24002C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E5202-6C06-980C-4382-C97468FE6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01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EFEF-0315-9078-A95E-8367ACFFD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A1CF3-4446-2983-872B-A47043DD3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07C88-7B51-90DC-A6A3-0503527AA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F88E6-C0D5-FAEB-7DB9-22D7CBF15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03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C5A84-807A-00B0-CC09-0EF2256A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E0E7B-4492-593A-BDA8-36412D856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F6646-D2F0-BA33-0E1A-44EA8A3B3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5D1A0-F078-7EAF-686E-FE80775B3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0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8A94-73E6-FF9B-23F2-4C55F20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EC67F-D2B6-EFA6-4AE5-0A3E34B90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77FDA-1661-7A5D-7951-FF9761CD3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40735-D3A2-2784-F688-E3F490EDC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34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3344C-240B-97E8-0B68-A1C4CFCC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E9588-A3BD-5E49-F766-5CF602D4F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30CBF-448B-82F6-2F00-B86752D09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FE38F-38E4-4633-C854-94E6CA672A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67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3B596-6AC5-C644-E65D-E3B7434D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C6DB7-2DC1-BFEC-1C12-3D14D1DE6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5FC8B-BC41-9359-1A13-C4A4304B3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B20C9-B0FC-013E-87F7-B5620949B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30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C1037-1A17-CA21-C3B3-820705F6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5A94F-2219-7EC0-A965-402A048A4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259C6-7EBC-2EA4-D352-4AF27E230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D6CF4-4021-9709-248A-B0360B2E5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30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AFA4-9370-7BC8-F22C-7ECB4183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E4BB7-551F-7907-55D3-3F4990292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190D0-D263-72BC-9628-BE7F5638B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9F003-A36E-4C75-3F1C-50D943A74F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59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F3DF8-3B86-D780-0254-4B08FBDC9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6C84E-BAF0-6796-FF85-2ADA2E2F7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F4924-4F6C-2282-10F5-80537D48C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429DF-7351-3150-05C6-DD68D83D2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98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9FA8F-4F60-1E4C-E50C-3D9C14BEC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03F768-258F-803C-12E1-834B309BE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CB428-7784-86F8-EC90-C1DAB23CB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3C9EE-3621-7004-7560-318FCBC559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582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A109D-6B8E-6D4B-C866-6770BD39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9E20D-E256-11B6-39BB-CD4F73E1E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90357-27EC-5551-19C1-6A15ED8CA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68326-5CF8-1DFA-44EF-1C76E1803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922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u/1/folders/1S5UtN1f0wS6Ou-LIe3bAAazgPz1ypqK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31250" b="3125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0F14">
                  <a:alpha val="19000"/>
                </a:srgbClr>
              </a:gs>
              <a:gs pos="40000">
                <a:srgbClr val="0F0F14">
                  <a:alpha val="50000"/>
                </a:srgbClr>
              </a:gs>
              <a:gs pos="100000">
                <a:srgbClr val="0F0F14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04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kern="0" spc="4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TIRE CHECK</a:t>
            </a:r>
            <a:endParaRPr lang="en-US" sz="5600" dirty="0">
              <a:latin typeface="Bell MT" panose="02020503060305020303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858000" y="4318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048000" y="469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kern="0" spc="1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PRODUCT LAUNCH &amp; MARKETING STRATEGY</a:t>
            </a:r>
            <a:endParaRPr lang="en-US" sz="2400" dirty="0">
              <a:latin typeface="Bell MT" panose="020205030603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318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IoT-Enabled Tire Pressure Monitoring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THE TEAM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77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TEAM LEADER</a:t>
            </a:r>
            <a:endParaRPr lang="en-US" sz="1400" dirty="0">
              <a:latin typeface="Bell MT" panose="020205030603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2159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Rafael Magdy George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2921000"/>
            <a:ext cx="14732000" cy="12700"/>
          </a:xfrm>
          <a:prstGeom prst="rect">
            <a:avLst/>
          </a:prstGeom>
          <a:solidFill>
            <a:srgbClr val="2A2A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2000" y="323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TEAM MEMBERS</a:t>
            </a:r>
            <a:endParaRPr lang="en-US" sz="1400" dirty="0">
              <a:latin typeface="Bell MT" panose="020205030603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2000" y="3810000"/>
            <a:ext cx="7048500" cy="1651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4064000"/>
            <a:ext cx="6286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5F5F7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Pierre Magdy Marko</a:t>
            </a:r>
            <a:endParaRPr lang="en-US" sz="1600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Antony Mina Wasfy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445500" y="3810000"/>
            <a:ext cx="7048500" cy="1651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26500" y="4064000"/>
            <a:ext cx="6286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5F5F7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Ahmed Mohamed ElGendy</a:t>
            </a:r>
            <a:endParaRPr lang="en-US" sz="1600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Fady Diaa Sobhy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5842000"/>
            <a:ext cx="7048500" cy="1651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6096000"/>
            <a:ext cx="6286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5F5F7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Sama Hesham Abbas</a:t>
            </a:r>
            <a:endParaRPr lang="en-US" sz="1600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Marketing &amp; Strategy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45500" y="5842000"/>
            <a:ext cx="7048500" cy="1651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26500" y="6096000"/>
            <a:ext cx="6286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Tire Check Team</a:t>
            </a:r>
            <a:endParaRPr lang="en-US" sz="1600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E63946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IoT Product Launch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l="8333" r="8333"/>
          <a:stretch/>
        </p:blipFill>
        <p:spPr>
          <a:xfrm>
            <a:off x="0" y="0"/>
            <a:ext cx="7620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80000" y="0"/>
            <a:ext cx="3556000" cy="9144000"/>
          </a:xfrm>
          <a:prstGeom prst="rect">
            <a:avLst/>
          </a:prstGeom>
          <a:gradFill flip="none" rotWithShape="1">
            <a:gsLst>
              <a:gs pos="0">
                <a:srgbClr val="0F0F14">
                  <a:alpha val="0"/>
                </a:srgbClr>
              </a:gs>
              <a:gs pos="100000">
                <a:srgbClr val="0F0F14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890000" y="1016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890000" y="1778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90000" y="2095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63946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THE THUMP THUMP REALITY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890000" y="27940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Drivers often miss low tire pressure until a flat occurs. This leads to unsafe driving, poor fuel efficiency, and expensive mistakes.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890000" y="5080000"/>
            <a:ext cx="6604000" cy="2286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271000" y="5270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E63946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+200 L.E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271000" y="60325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Average cost of tire-related repairs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271000" y="6540500"/>
            <a:ext cx="5842000" cy="12700"/>
          </a:xfrm>
          <a:prstGeom prst="rect">
            <a:avLst/>
          </a:prstGeom>
          <a:solidFill>
            <a:srgbClr val="2A2A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271000" y="6731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1-3 PSI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938000" y="6794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Natural air loss per month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890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Bluetooth-enabled sensors + Mobile App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6000" y="292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368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THE PRODUCT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4254500"/>
            <a:ext cx="406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Compact Bluetooth sensors that screw directly onto tire valves. Each sensor transmits pressure data wirelessly to your smartphone.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12-month battery life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59500" y="2921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5875" y="63500"/>
                </a:moveTo>
                <a:cubicBezTo>
                  <a:pt x="15875" y="28476"/>
                  <a:pt x="44351" y="0"/>
                  <a:pt x="79375" y="0"/>
                </a:cubicBezTo>
                <a:lnTo>
                  <a:pt x="301625" y="0"/>
                </a:lnTo>
                <a:cubicBezTo>
                  <a:pt x="336649" y="0"/>
                  <a:pt x="365125" y="28476"/>
                  <a:pt x="365125" y="63500"/>
                </a:cubicBezTo>
                <a:lnTo>
                  <a:pt x="365125" y="444500"/>
                </a:lnTo>
                <a:cubicBezTo>
                  <a:pt x="365125" y="479524"/>
                  <a:pt x="336649" y="508000"/>
                  <a:pt x="301625" y="508000"/>
                </a:cubicBezTo>
                <a:lnTo>
                  <a:pt x="79375" y="508000"/>
                </a:lnTo>
                <a:cubicBezTo>
                  <a:pt x="44351" y="508000"/>
                  <a:pt x="15875" y="479524"/>
                  <a:pt x="15875" y="444500"/>
                </a:cubicBezTo>
                <a:lnTo>
                  <a:pt x="15875" y="63500"/>
                </a:lnTo>
                <a:close/>
                <a:moveTo>
                  <a:pt x="127000" y="436563"/>
                </a:moveTo>
                <a:cubicBezTo>
                  <a:pt x="127000" y="449759"/>
                  <a:pt x="137616" y="460375"/>
                  <a:pt x="150813" y="460375"/>
                </a:cubicBezTo>
                <a:lnTo>
                  <a:pt x="230188" y="460375"/>
                </a:lnTo>
                <a:cubicBezTo>
                  <a:pt x="243384" y="460375"/>
                  <a:pt x="254000" y="449759"/>
                  <a:pt x="254000" y="436563"/>
                </a:cubicBezTo>
                <a:cubicBezTo>
                  <a:pt x="254000" y="423366"/>
                  <a:pt x="243384" y="412750"/>
                  <a:pt x="230188" y="412750"/>
                </a:cubicBezTo>
                <a:lnTo>
                  <a:pt x="150813" y="412750"/>
                </a:lnTo>
                <a:cubicBezTo>
                  <a:pt x="137616" y="412750"/>
                  <a:pt x="127000" y="423366"/>
                  <a:pt x="127000" y="436563"/>
                </a:cubicBezTo>
                <a:close/>
                <a:moveTo>
                  <a:pt x="301625" y="63500"/>
                </a:moveTo>
                <a:lnTo>
                  <a:pt x="79375" y="63500"/>
                </a:lnTo>
                <a:lnTo>
                  <a:pt x="79375" y="365125"/>
                </a:lnTo>
                <a:lnTo>
                  <a:pt x="301625" y="365125"/>
                </a:lnTo>
                <a:lnTo>
                  <a:pt x="301625" y="63500"/>
                </a:ln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6000" y="368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0" y="4254500"/>
            <a:ext cx="406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Sensors continuously monitor PSI levels and send real-time data to the Tire Check app via Bluetooth Low Energy.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Works with any car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92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207750" y="2921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22250" y="0"/>
                </a:moveTo>
                <a:cubicBezTo>
                  <a:pt x="204688" y="0"/>
                  <a:pt x="190500" y="14188"/>
                  <a:pt x="190500" y="31750"/>
                </a:cubicBezTo>
                <a:lnTo>
                  <a:pt x="190500" y="34925"/>
                </a:lnTo>
                <a:cubicBezTo>
                  <a:pt x="118070" y="49609"/>
                  <a:pt x="63500" y="113705"/>
                  <a:pt x="63500" y="190500"/>
                </a:cubicBezTo>
                <a:lnTo>
                  <a:pt x="63500" y="212030"/>
                </a:lnTo>
                <a:cubicBezTo>
                  <a:pt x="63500" y="259755"/>
                  <a:pt x="47228" y="306090"/>
                  <a:pt x="17463" y="343396"/>
                </a:cubicBezTo>
                <a:lnTo>
                  <a:pt x="7739" y="355501"/>
                </a:lnTo>
                <a:cubicBezTo>
                  <a:pt x="2679" y="361752"/>
                  <a:pt x="0" y="369491"/>
                  <a:pt x="0" y="377527"/>
                </a:cubicBezTo>
                <a:cubicBezTo>
                  <a:pt x="0" y="396974"/>
                  <a:pt x="15776" y="412750"/>
                  <a:pt x="35223" y="412750"/>
                </a:cubicBezTo>
                <a:lnTo>
                  <a:pt x="409178" y="412750"/>
                </a:lnTo>
                <a:cubicBezTo>
                  <a:pt x="428625" y="412750"/>
                  <a:pt x="444401" y="396974"/>
                  <a:pt x="444401" y="377527"/>
                </a:cubicBezTo>
                <a:cubicBezTo>
                  <a:pt x="444401" y="369491"/>
                  <a:pt x="441722" y="361752"/>
                  <a:pt x="436662" y="355501"/>
                </a:cubicBezTo>
                <a:lnTo>
                  <a:pt x="426938" y="343396"/>
                </a:lnTo>
                <a:cubicBezTo>
                  <a:pt x="397272" y="306090"/>
                  <a:pt x="381000" y="259755"/>
                  <a:pt x="381000" y="212030"/>
                </a:cubicBezTo>
                <a:lnTo>
                  <a:pt x="381000" y="190500"/>
                </a:lnTo>
                <a:cubicBezTo>
                  <a:pt x="381000" y="113705"/>
                  <a:pt x="326430" y="49609"/>
                  <a:pt x="254000" y="34925"/>
                </a:cubicBezTo>
                <a:lnTo>
                  <a:pt x="254000" y="31750"/>
                </a:lnTo>
                <a:cubicBezTo>
                  <a:pt x="254000" y="14188"/>
                  <a:pt x="239812" y="0"/>
                  <a:pt x="222250" y="0"/>
                </a:cubicBezTo>
                <a:close/>
                <a:moveTo>
                  <a:pt x="160734" y="460375"/>
                </a:moveTo>
                <a:cubicBezTo>
                  <a:pt x="167779" y="487759"/>
                  <a:pt x="192683" y="508000"/>
                  <a:pt x="222250" y="508000"/>
                </a:cubicBezTo>
                <a:cubicBezTo>
                  <a:pt x="251817" y="508000"/>
                  <a:pt x="276721" y="487759"/>
                  <a:pt x="283766" y="460375"/>
                </a:cubicBezTo>
                <a:lnTo>
                  <a:pt x="160734" y="460375"/>
                </a:ln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176000" y="368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176000" y="4254500"/>
            <a:ext cx="406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Get instant alerts before you drive. Prevent flats, improve fuel efficiency, and avoid costly roadside emergencies.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Alerts before you drive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BUYER PERSONA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E63946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DAILY DRIVER Tarek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4575" y="292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221456"/>
                </a:moveTo>
                <a:cubicBezTo>
                  <a:pt x="259166" y="221456"/>
                  <a:pt x="307181" y="173441"/>
                  <a:pt x="307181" y="114300"/>
                </a:cubicBezTo>
                <a:cubicBezTo>
                  <a:pt x="307181" y="55159"/>
                  <a:pt x="259166" y="7144"/>
                  <a:pt x="200025" y="7144"/>
                </a:cubicBezTo>
                <a:cubicBezTo>
                  <a:pt x="140884" y="7144"/>
                  <a:pt x="92869" y="55159"/>
                  <a:pt x="92869" y="114300"/>
                </a:cubicBezTo>
                <a:cubicBezTo>
                  <a:pt x="92869" y="173441"/>
                  <a:pt x="140884" y="221456"/>
                  <a:pt x="200025" y="221456"/>
                </a:cubicBezTo>
                <a:close/>
                <a:moveTo>
                  <a:pt x="173504" y="271463"/>
                </a:moveTo>
                <a:cubicBezTo>
                  <a:pt x="85546" y="271463"/>
                  <a:pt x="14288" y="342721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42721"/>
                  <a:pt x="314504" y="271463"/>
                  <a:pt x="226546" y="271463"/>
                </a:cubicBezTo>
                <a:lnTo>
                  <a:pt x="173504" y="271463"/>
                </a:ln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3619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PROFILE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4127500"/>
            <a:ext cx="406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34 years old Marketing Manager with a 45-minute daily commute.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Busy professional who relies on her car for work and personal life.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96000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6000" y="3619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PAIN POINTS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0" y="4127500"/>
            <a:ext cx="406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Forgets to check tire pressure regularly.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Doesn't understand PSI numbers or what they mean.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Fears unexpected costly repairs and being stranded.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92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176000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176000" y="3619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GOALS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176000" y="4127500"/>
            <a:ext cx="406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Safety for herself and her family on every drive.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Saving money on gas through optimal tire pressure.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Simple, automatic alerts without manual checks.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CUSTOMER JOURNEY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From first awareness to confident purchase decision</a:t>
            </a:r>
            <a:endParaRPr lang="en-US" sz="1600" dirty="0">
              <a:latin typeface="Bell MT" panose="02020503060305020303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876735"/>
              </p:ext>
            </p:extLst>
          </p:nvPr>
        </p:nvGraphicFramePr>
        <p:xfrm>
          <a:off x="762000" y="2540000"/>
          <a:ext cx="14732000" cy="5334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dirty="0">
                          <a:solidFill>
                            <a:srgbClr val="F5F5F7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STAGE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dirty="0">
                          <a:solidFill>
                            <a:srgbClr val="F5F5F7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CHANNELS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dirty="0">
                          <a:solidFill>
                            <a:srgbClr val="F5F5F7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CONTENT FOCUS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dirty="0">
                          <a:solidFill>
                            <a:srgbClr val="F5F5F7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GOAL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algn="ctr"/>
                      <a:r>
                        <a:rPr lang="en-US" sz="3200" u="none" dirty="0">
                          <a:solidFill>
                            <a:srgbClr val="E63946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Awareness</a:t>
                      </a:r>
                      <a:endParaRPr lang="en-US" sz="18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Facebook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TikTok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Instagram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Fear of being stranded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Natural air loss (1-3 PSI/month)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Capture attention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Build problem awareness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algn="ctr"/>
                      <a:r>
                        <a:rPr lang="en-US" sz="3200" u="none" dirty="0">
                          <a:solidFill>
                            <a:srgbClr val="E63946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Consideration</a:t>
                      </a:r>
                      <a:endParaRPr lang="en-US" sz="32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YouTube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Product demos &amp; tutorials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Feature deep-dives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Educate &amp; build trust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Show technical feasibility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algn="ctr"/>
                      <a:r>
                        <a:rPr lang="en-US" sz="3200" u="none" dirty="0">
                          <a:solidFill>
                            <a:srgbClr val="E63946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Decision</a:t>
                      </a:r>
                      <a:endParaRPr lang="en-US" sz="32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SMS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WhatsApp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Urgency &amp; risk reduction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Instant purchase options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Convert to purchase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ctr"/>
                      <a:r>
                        <a:rPr lang="en-US" sz="2000" u="none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QuattrocentoSans" pitchFamily="34" charset="-120"/>
                        </a:rPr>
                        <a:t>Remove friction</a:t>
                      </a:r>
                      <a:endParaRPr lang="en-US" sz="2000" dirty="0">
                        <a:latin typeface="Bell MT" panose="02020503060305020303" pitchFamily="18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SOCIAL MEDIA CAMPAIGN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Awareness stage — driving top-of-funnel traffic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048500" cy="2667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6000" y="285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102334"/>
                  <a:pt x="354866" y="0"/>
                  <a:pt x="228600" y="0"/>
                </a:cubicBezTo>
                <a:cubicBezTo>
                  <a:pt x="102334" y="0"/>
                  <a:pt x="0" y="102334"/>
                  <a:pt x="0" y="228600"/>
                </a:cubicBezTo>
                <a:cubicBezTo>
                  <a:pt x="0" y="335756"/>
                  <a:pt x="73849" y="425768"/>
                  <a:pt x="173415" y="450503"/>
                </a:cubicBezTo>
                <a:lnTo>
                  <a:pt x="173415" y="298430"/>
                </a:lnTo>
                <a:lnTo>
                  <a:pt x="126266" y="298430"/>
                </a:lnTo>
                <a:lnTo>
                  <a:pt x="126266" y="228600"/>
                </a:lnTo>
                <a:lnTo>
                  <a:pt x="173415" y="228600"/>
                </a:lnTo>
                <a:lnTo>
                  <a:pt x="173415" y="198507"/>
                </a:lnTo>
                <a:cubicBezTo>
                  <a:pt x="173415" y="120729"/>
                  <a:pt x="208598" y="84653"/>
                  <a:pt x="285036" y="84653"/>
                </a:cubicBezTo>
                <a:cubicBezTo>
                  <a:pt x="299502" y="84653"/>
                  <a:pt x="324505" y="87511"/>
                  <a:pt x="334774" y="90368"/>
                </a:cubicBezTo>
                <a:lnTo>
                  <a:pt x="334774" y="153591"/>
                </a:lnTo>
                <a:cubicBezTo>
                  <a:pt x="329416" y="153055"/>
                  <a:pt x="320040" y="152698"/>
                  <a:pt x="308342" y="152698"/>
                </a:cubicBezTo>
                <a:cubicBezTo>
                  <a:pt x="270837" y="152698"/>
                  <a:pt x="256371" y="166896"/>
                  <a:pt x="256371" y="203775"/>
                </a:cubicBezTo>
                <a:lnTo>
                  <a:pt x="256371" y="228600"/>
                </a:lnTo>
                <a:lnTo>
                  <a:pt x="331024" y="228600"/>
                </a:lnTo>
                <a:lnTo>
                  <a:pt x="318165" y="298430"/>
                </a:lnTo>
                <a:lnTo>
                  <a:pt x="256282" y="298430"/>
                </a:lnTo>
                <a:lnTo>
                  <a:pt x="256282" y="455503"/>
                </a:lnTo>
                <a:cubicBezTo>
                  <a:pt x="369510" y="441841"/>
                  <a:pt x="457200" y="345490"/>
                  <a:pt x="457200" y="228600"/>
                </a:cubicBez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FACEBOOK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35560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Carousel posts highlighting the </a:t>
            </a:r>
            <a:r>
              <a:rPr lang="en-US" sz="1800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"fear of being stranded"</a:t>
            </a: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 and natural air loss (1-3 PSI/month).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Target: Daily commuters aged 25-45.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445500" y="2540000"/>
            <a:ext cx="7048500" cy="2667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28075" y="2857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293" y="125909"/>
                </a:moveTo>
                <a:cubicBezTo>
                  <a:pt x="163605" y="125813"/>
                  <a:pt x="129653" y="145297"/>
                  <a:pt x="111226" y="177022"/>
                </a:cubicBezTo>
                <a:cubicBezTo>
                  <a:pt x="92799" y="208747"/>
                  <a:pt x="92697" y="247893"/>
                  <a:pt x="110958" y="279714"/>
                </a:cubicBezTo>
                <a:cubicBezTo>
                  <a:pt x="129219" y="311534"/>
                  <a:pt x="163069" y="331196"/>
                  <a:pt x="199757" y="331291"/>
                </a:cubicBezTo>
                <a:cubicBezTo>
                  <a:pt x="256434" y="331439"/>
                  <a:pt x="302569" y="285545"/>
                  <a:pt x="302716" y="228868"/>
                </a:cubicBezTo>
                <a:cubicBezTo>
                  <a:pt x="302864" y="172191"/>
                  <a:pt x="256970" y="126056"/>
                  <a:pt x="200293" y="125909"/>
                </a:cubicBezTo>
                <a:close/>
                <a:moveTo>
                  <a:pt x="199757" y="161985"/>
                </a:moveTo>
                <a:cubicBezTo>
                  <a:pt x="223557" y="161889"/>
                  <a:pt x="245599" y="174497"/>
                  <a:pt x="257582" y="195060"/>
                </a:cubicBezTo>
                <a:cubicBezTo>
                  <a:pt x="269564" y="215623"/>
                  <a:pt x="269666" y="241017"/>
                  <a:pt x="257850" y="261676"/>
                </a:cubicBezTo>
                <a:cubicBezTo>
                  <a:pt x="246033" y="282334"/>
                  <a:pt x="224092" y="295120"/>
                  <a:pt x="200293" y="295215"/>
                </a:cubicBezTo>
                <a:cubicBezTo>
                  <a:pt x="163527" y="295363"/>
                  <a:pt x="133557" y="265634"/>
                  <a:pt x="133410" y="228868"/>
                </a:cubicBezTo>
                <a:cubicBezTo>
                  <a:pt x="133262" y="192102"/>
                  <a:pt x="162991" y="162132"/>
                  <a:pt x="199757" y="161985"/>
                </a:cubicBezTo>
                <a:close/>
                <a:moveTo>
                  <a:pt x="283160" y="121712"/>
                </a:moveTo>
                <a:cubicBezTo>
                  <a:pt x="283160" y="108503"/>
                  <a:pt x="293884" y="97780"/>
                  <a:pt x="307092" y="97780"/>
                </a:cubicBezTo>
                <a:cubicBezTo>
                  <a:pt x="320300" y="97780"/>
                  <a:pt x="331024" y="108503"/>
                  <a:pt x="331024" y="121712"/>
                </a:cubicBezTo>
                <a:cubicBezTo>
                  <a:pt x="331024" y="134920"/>
                  <a:pt x="320300" y="145643"/>
                  <a:pt x="307092" y="145643"/>
                </a:cubicBezTo>
                <a:cubicBezTo>
                  <a:pt x="293884" y="145643"/>
                  <a:pt x="283160" y="134920"/>
                  <a:pt x="283160" y="121712"/>
                </a:cubicBezTo>
                <a:close/>
                <a:moveTo>
                  <a:pt x="398978" y="146000"/>
                </a:moveTo>
                <a:cubicBezTo>
                  <a:pt x="397460" y="113943"/>
                  <a:pt x="390138" y="85546"/>
                  <a:pt x="366653" y="62151"/>
                </a:cubicBezTo>
                <a:cubicBezTo>
                  <a:pt x="343257" y="38755"/>
                  <a:pt x="314861" y="31432"/>
                  <a:pt x="282803" y="29825"/>
                </a:cubicBezTo>
                <a:cubicBezTo>
                  <a:pt x="249763" y="27950"/>
                  <a:pt x="150733" y="27950"/>
                  <a:pt x="117693" y="29825"/>
                </a:cubicBezTo>
                <a:cubicBezTo>
                  <a:pt x="85725" y="31343"/>
                  <a:pt x="57329" y="38666"/>
                  <a:pt x="33844" y="62061"/>
                </a:cubicBezTo>
                <a:cubicBezTo>
                  <a:pt x="10358" y="85457"/>
                  <a:pt x="3125" y="113854"/>
                  <a:pt x="1518" y="145911"/>
                </a:cubicBezTo>
                <a:cubicBezTo>
                  <a:pt x="-357" y="178951"/>
                  <a:pt x="-357" y="277981"/>
                  <a:pt x="1518" y="311021"/>
                </a:cubicBezTo>
                <a:cubicBezTo>
                  <a:pt x="3036" y="343079"/>
                  <a:pt x="10358" y="371475"/>
                  <a:pt x="33844" y="394871"/>
                </a:cubicBezTo>
                <a:cubicBezTo>
                  <a:pt x="57329" y="418267"/>
                  <a:pt x="85636" y="425589"/>
                  <a:pt x="117693" y="427196"/>
                </a:cubicBezTo>
                <a:cubicBezTo>
                  <a:pt x="150733" y="429071"/>
                  <a:pt x="249763" y="429071"/>
                  <a:pt x="282803" y="427196"/>
                </a:cubicBezTo>
                <a:cubicBezTo>
                  <a:pt x="314861" y="425678"/>
                  <a:pt x="343257" y="418356"/>
                  <a:pt x="366653" y="394871"/>
                </a:cubicBezTo>
                <a:cubicBezTo>
                  <a:pt x="390049" y="371475"/>
                  <a:pt x="397371" y="343079"/>
                  <a:pt x="398978" y="311021"/>
                </a:cubicBezTo>
                <a:cubicBezTo>
                  <a:pt x="400854" y="277981"/>
                  <a:pt x="400854" y="179040"/>
                  <a:pt x="398978" y="146000"/>
                </a:cubicBezTo>
                <a:close/>
                <a:moveTo>
                  <a:pt x="356295" y="346472"/>
                </a:moveTo>
                <a:cubicBezTo>
                  <a:pt x="349329" y="363974"/>
                  <a:pt x="335846" y="377458"/>
                  <a:pt x="318254" y="384512"/>
                </a:cubicBezTo>
                <a:cubicBezTo>
                  <a:pt x="291911" y="394960"/>
                  <a:pt x="229404" y="392549"/>
                  <a:pt x="200293" y="392549"/>
                </a:cubicBezTo>
                <a:cubicBezTo>
                  <a:pt x="171182" y="392549"/>
                  <a:pt x="108585" y="394871"/>
                  <a:pt x="82332" y="384512"/>
                </a:cubicBezTo>
                <a:cubicBezTo>
                  <a:pt x="64830" y="377547"/>
                  <a:pt x="51346" y="364063"/>
                  <a:pt x="44291" y="346472"/>
                </a:cubicBezTo>
                <a:cubicBezTo>
                  <a:pt x="33844" y="320129"/>
                  <a:pt x="36255" y="257621"/>
                  <a:pt x="36255" y="228511"/>
                </a:cubicBezTo>
                <a:cubicBezTo>
                  <a:pt x="36255" y="199400"/>
                  <a:pt x="33933" y="136803"/>
                  <a:pt x="44291" y="110550"/>
                </a:cubicBezTo>
                <a:cubicBezTo>
                  <a:pt x="51256" y="93047"/>
                  <a:pt x="64740" y="79564"/>
                  <a:pt x="82332" y="72509"/>
                </a:cubicBezTo>
                <a:cubicBezTo>
                  <a:pt x="108674" y="62061"/>
                  <a:pt x="171182" y="64472"/>
                  <a:pt x="200293" y="64472"/>
                </a:cubicBezTo>
                <a:cubicBezTo>
                  <a:pt x="229404" y="64472"/>
                  <a:pt x="292001" y="62151"/>
                  <a:pt x="318254" y="72509"/>
                </a:cubicBezTo>
                <a:cubicBezTo>
                  <a:pt x="335756" y="79474"/>
                  <a:pt x="349240" y="92958"/>
                  <a:pt x="356295" y="110550"/>
                </a:cubicBezTo>
                <a:cubicBezTo>
                  <a:pt x="366742" y="136892"/>
                  <a:pt x="364331" y="199400"/>
                  <a:pt x="364331" y="228511"/>
                </a:cubicBezTo>
                <a:cubicBezTo>
                  <a:pt x="364331" y="257621"/>
                  <a:pt x="366742" y="320219"/>
                  <a:pt x="356295" y="346472"/>
                </a:cubicBez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34500" y="2857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INSTAGRAM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99500" y="35560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Visual storytelling with striking tire and road imagery. Stories and Reels for maximum engagement.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Focus: Lifestyle and safety aesthetics.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2000" y="5588000"/>
            <a:ext cx="7048500" cy="2667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44575" y="5905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496" y="187434"/>
                </a:moveTo>
                <a:cubicBezTo>
                  <a:pt x="361206" y="187523"/>
                  <a:pt x="322808" y="175290"/>
                  <a:pt x="290840" y="152430"/>
                </a:cubicBezTo>
                <a:lnTo>
                  <a:pt x="290840" y="312003"/>
                </a:lnTo>
                <a:cubicBezTo>
                  <a:pt x="290840" y="341561"/>
                  <a:pt x="281821" y="370403"/>
                  <a:pt x="264944" y="394692"/>
                </a:cubicBezTo>
                <a:cubicBezTo>
                  <a:pt x="248067" y="418981"/>
                  <a:pt x="224224" y="437555"/>
                  <a:pt x="196542" y="447913"/>
                </a:cubicBezTo>
                <a:cubicBezTo>
                  <a:pt x="168860" y="458272"/>
                  <a:pt x="138678" y="459968"/>
                  <a:pt x="110014" y="452646"/>
                </a:cubicBezTo>
                <a:cubicBezTo>
                  <a:pt x="81349" y="445324"/>
                  <a:pt x="55632" y="429518"/>
                  <a:pt x="36165" y="407283"/>
                </a:cubicBezTo>
                <a:cubicBezTo>
                  <a:pt x="16699" y="385048"/>
                  <a:pt x="4643" y="357277"/>
                  <a:pt x="1339" y="327898"/>
                </a:cubicBezTo>
                <a:cubicBezTo>
                  <a:pt x="-1965" y="298519"/>
                  <a:pt x="3929" y="268873"/>
                  <a:pt x="17949" y="242888"/>
                </a:cubicBezTo>
                <a:cubicBezTo>
                  <a:pt x="31968" y="216902"/>
                  <a:pt x="53667" y="195828"/>
                  <a:pt x="80099" y="182434"/>
                </a:cubicBezTo>
                <a:cubicBezTo>
                  <a:pt x="106531" y="169039"/>
                  <a:pt x="136267" y="164128"/>
                  <a:pt x="165556" y="168146"/>
                </a:cubicBezTo>
                <a:lnTo>
                  <a:pt x="165556" y="248424"/>
                </a:lnTo>
                <a:cubicBezTo>
                  <a:pt x="152162" y="244227"/>
                  <a:pt x="137785" y="244316"/>
                  <a:pt x="124480" y="248781"/>
                </a:cubicBezTo>
                <a:cubicBezTo>
                  <a:pt x="111175" y="253246"/>
                  <a:pt x="99566" y="261818"/>
                  <a:pt x="91440" y="273159"/>
                </a:cubicBezTo>
                <a:cubicBezTo>
                  <a:pt x="83314" y="284500"/>
                  <a:pt x="78938" y="298252"/>
                  <a:pt x="79028" y="312360"/>
                </a:cubicBezTo>
                <a:cubicBezTo>
                  <a:pt x="79117" y="326469"/>
                  <a:pt x="83671" y="340043"/>
                  <a:pt x="91976" y="351383"/>
                </a:cubicBezTo>
                <a:cubicBezTo>
                  <a:pt x="100280" y="362724"/>
                  <a:pt x="111978" y="371118"/>
                  <a:pt x="125373" y="375404"/>
                </a:cubicBezTo>
                <a:cubicBezTo>
                  <a:pt x="138767" y="379690"/>
                  <a:pt x="153144" y="379690"/>
                  <a:pt x="166449" y="375315"/>
                </a:cubicBezTo>
                <a:cubicBezTo>
                  <a:pt x="179755" y="370939"/>
                  <a:pt x="191452" y="362456"/>
                  <a:pt x="199668" y="351115"/>
                </a:cubicBezTo>
                <a:cubicBezTo>
                  <a:pt x="207883" y="339775"/>
                  <a:pt x="212348" y="326023"/>
                  <a:pt x="212348" y="312003"/>
                </a:cubicBezTo>
                <a:lnTo>
                  <a:pt x="212348" y="0"/>
                </a:lnTo>
                <a:lnTo>
                  <a:pt x="290929" y="0"/>
                </a:lnTo>
                <a:cubicBezTo>
                  <a:pt x="290840" y="6608"/>
                  <a:pt x="291465" y="13305"/>
                  <a:pt x="292626" y="19824"/>
                </a:cubicBezTo>
                <a:cubicBezTo>
                  <a:pt x="295394" y="34379"/>
                  <a:pt x="301020" y="48310"/>
                  <a:pt x="309324" y="60633"/>
                </a:cubicBezTo>
                <a:cubicBezTo>
                  <a:pt x="317629" y="72956"/>
                  <a:pt x="328345" y="83493"/>
                  <a:pt x="340757" y="91529"/>
                </a:cubicBezTo>
                <a:cubicBezTo>
                  <a:pt x="358527" y="103227"/>
                  <a:pt x="379333" y="109478"/>
                  <a:pt x="400586" y="109478"/>
                </a:cubicBezTo>
                <a:lnTo>
                  <a:pt x="400586" y="187523"/>
                </a:ln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51000" y="5905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TIKTOK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16000" y="66040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Personal branding videos explaining product features in </a:t>
            </a:r>
            <a:r>
              <a:rPr lang="en-US" sz="1800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Arabic</a:t>
            </a: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. Short, authentic, relatable content.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Goal: Viral reach in local markets.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445500" y="5588000"/>
            <a:ext cx="7048500" cy="2667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28075" y="5905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81439" y="32951"/>
                </a:moveTo>
                <a:cubicBezTo>
                  <a:pt x="70366" y="26878"/>
                  <a:pt x="56971" y="27146"/>
                  <a:pt x="46077" y="33576"/>
                </a:cubicBezTo>
                <a:cubicBezTo>
                  <a:pt x="35183" y="40005"/>
                  <a:pt x="28575" y="51703"/>
                  <a:pt x="28575" y="64294"/>
                </a:cubicBezTo>
                <a:lnTo>
                  <a:pt x="28575" y="392906"/>
                </a:lnTo>
                <a:cubicBezTo>
                  <a:pt x="28575" y="405497"/>
                  <a:pt x="35272" y="417195"/>
                  <a:pt x="46077" y="423624"/>
                </a:cubicBezTo>
                <a:cubicBezTo>
                  <a:pt x="56882" y="430054"/>
                  <a:pt x="70366" y="430322"/>
                  <a:pt x="81439" y="424249"/>
                </a:cubicBezTo>
                <a:lnTo>
                  <a:pt x="381476" y="259943"/>
                </a:lnTo>
                <a:cubicBezTo>
                  <a:pt x="392906" y="253692"/>
                  <a:pt x="400050" y="241637"/>
                  <a:pt x="400050" y="228600"/>
                </a:cubicBezTo>
                <a:cubicBezTo>
                  <a:pt x="400050" y="215563"/>
                  <a:pt x="392906" y="203508"/>
                  <a:pt x="381476" y="197257"/>
                </a:cubicBezTo>
                <a:lnTo>
                  <a:pt x="81439" y="32951"/>
                </a:ln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34500" y="5905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REELS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99500" y="66040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Quick-cut demos showing the 2-minute installation and real-time alerts in action.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Hook: "Check your rubber before you suffer."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A85F6-CAA9-8DD4-04C3-706B5CE6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090919C-C1D3-F2ED-FBDE-CF5B1F78112C}"/>
              </a:ext>
            </a:extLst>
          </p:cNvPr>
          <p:cNvSpPr/>
          <p:nvPr/>
        </p:nvSpPr>
        <p:spPr>
          <a:xfrm>
            <a:off x="0" y="0"/>
            <a:ext cx="16440150" cy="9144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01BCBA6-7675-E66F-092D-BA5D1511AA8D}"/>
              </a:ext>
            </a:extLst>
          </p:cNvPr>
          <p:cNvSpPr/>
          <p:nvPr/>
        </p:nvSpPr>
        <p:spPr>
          <a:xfrm>
            <a:off x="8890000" y="1016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Facebook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4E46166-CEB8-0872-54D1-4330AE610E88}"/>
              </a:ext>
            </a:extLst>
          </p:cNvPr>
          <p:cNvSpPr/>
          <p:nvPr/>
        </p:nvSpPr>
        <p:spPr>
          <a:xfrm>
            <a:off x="8890000" y="1778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B6ED8D4-890E-851A-725F-06E2D284B477}"/>
              </a:ext>
            </a:extLst>
          </p:cNvPr>
          <p:cNvSpPr/>
          <p:nvPr/>
        </p:nvSpPr>
        <p:spPr>
          <a:xfrm>
            <a:off x="8890000" y="2095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63946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THE THUMP THUMP REALITY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3C4515B-EEBC-4449-D226-22F614AB291C}"/>
              </a:ext>
            </a:extLst>
          </p:cNvPr>
          <p:cNvSpPr/>
          <p:nvPr/>
        </p:nvSpPr>
        <p:spPr>
          <a:xfrm>
            <a:off x="8890000" y="27940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You're already late for work. You back out of the driveway. Thump thump thump.  </a:t>
            </a:r>
            <a:r>
              <a:rPr lang="en-US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Flat tire. </a:t>
            </a:r>
          </a:p>
          <a:p>
            <a:r>
              <a:rPr lang="en-GB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Most drivers don't know their pressure is low until it's too late. </a:t>
            </a:r>
          </a:p>
          <a:p>
            <a:r>
              <a:rPr lang="en-GB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Tire Check sends an alert to your phone before you drive. </a:t>
            </a:r>
          </a:p>
          <a:p>
            <a:r>
              <a:rPr lang="en-GB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First 50 people get 20% off → [Link] </a:t>
            </a:r>
          </a:p>
          <a:p>
            <a:r>
              <a:rPr lang="en-US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Carousel </a:t>
            </a:r>
            <a:r>
              <a:rPr lang="en-US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posts highlighting the </a:t>
            </a:r>
            <a:r>
              <a:rPr lang="en-US" sz="2800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"fear of being stranded"</a:t>
            </a:r>
            <a:r>
              <a:rPr lang="en-US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 and natural air loss (1-3 PSI/month).</a:t>
            </a:r>
            <a:endParaRPr lang="en-US" sz="2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Target: Daily commuters aged 25-45.</a:t>
            </a:r>
            <a:endParaRPr lang="en-US" sz="2800" dirty="0">
              <a:latin typeface="Bell MT" panose="02020503060305020303" pitchFamily="18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30734CF-A0FF-E108-6B8B-FA1F095FB46F}"/>
              </a:ext>
            </a:extLst>
          </p:cNvPr>
          <p:cNvSpPr/>
          <p:nvPr/>
        </p:nvSpPr>
        <p:spPr>
          <a:xfrm>
            <a:off x="8890000" y="7924800"/>
            <a:ext cx="5842000" cy="12700"/>
          </a:xfrm>
          <a:prstGeom prst="rect">
            <a:avLst/>
          </a:prstGeom>
          <a:solidFill>
            <a:srgbClr val="2A2A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34F08EF-2363-67B7-0738-2284CEC45D23}"/>
              </a:ext>
            </a:extLst>
          </p:cNvPr>
          <p:cNvSpPr/>
          <p:nvPr/>
        </p:nvSpPr>
        <p:spPr>
          <a:xfrm>
            <a:off x="8890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0AF068A-E555-E976-D62E-8AD2DA882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35" y="95009"/>
            <a:ext cx="3724913" cy="37249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43F2621-02C2-8288-2D9D-2FC6E993B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849" y="2720975"/>
            <a:ext cx="4416151" cy="37020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D07CEBF-97FC-6EBD-C5D6-6CDD66D60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32" y="5324078"/>
            <a:ext cx="3730216" cy="3730216"/>
          </a:xfrm>
          <a:prstGeom prst="rect">
            <a:avLst/>
          </a:prstGeom>
        </p:spPr>
      </p:pic>
      <p:sp>
        <p:nvSpPr>
          <p:cNvPr id="24" name="Text 3">
            <a:extLst>
              <a:ext uri="{FF2B5EF4-FFF2-40B4-BE49-F238E27FC236}">
                <a16:creationId xmlns:a16="http://schemas.microsoft.com/office/drawing/2014/main" id="{4E65F21B-D0BE-1262-A6C2-DADEF82346BD}"/>
              </a:ext>
            </a:extLst>
          </p:cNvPr>
          <p:cNvSpPr/>
          <p:nvPr/>
        </p:nvSpPr>
        <p:spPr>
          <a:xfrm>
            <a:off x="8890000" y="8191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63946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Facebook Posts</a:t>
            </a:r>
            <a:endParaRPr lang="en-US" sz="16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51274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21398-B25F-1AB0-1C69-35974475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A7C2390-71A0-D975-F58F-6146B2F7E33C}"/>
              </a:ext>
            </a:extLst>
          </p:cNvPr>
          <p:cNvSpPr/>
          <p:nvPr/>
        </p:nvSpPr>
        <p:spPr>
          <a:xfrm>
            <a:off x="0" y="0"/>
            <a:ext cx="16440150" cy="9144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FEB9E14-33A9-6AEA-FB9E-5AB7217B19C2}"/>
              </a:ext>
            </a:extLst>
          </p:cNvPr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Instagram Carousel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02411A2-76DA-E292-07F5-8B24EC061543}"/>
              </a:ext>
            </a:extLst>
          </p:cNvPr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5622A0-A56E-01A0-E235-600319F82788}"/>
              </a:ext>
            </a:extLst>
          </p:cNvPr>
          <p:cNvSpPr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</a:rPr>
              <a:t>Journey Stage: Awareness → Consideration </a:t>
            </a:r>
          </a:p>
          <a:p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</a:rPr>
              <a:t>Strategic Goal: Educate on how often tires lose pressure naturally </a:t>
            </a:r>
            <a:endParaRPr lang="en-US" sz="2000" dirty="0">
              <a:solidFill>
                <a:srgbClr val="8E8E93"/>
              </a:solidFill>
              <a:latin typeface="Bell MT" panose="02020503060305020303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E5B8D7-53F1-D7F4-AA71-F5275E31CFCB}"/>
              </a:ext>
            </a:extLst>
          </p:cNvPr>
          <p:cNvSpPr/>
          <p:nvPr/>
        </p:nvSpPr>
        <p:spPr>
          <a:xfrm>
            <a:off x="196850" y="25146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ED29AD7-AB45-7568-B4AC-A8404BE6A961}"/>
              </a:ext>
            </a:extLst>
          </p:cNvPr>
          <p:cNvSpPr/>
          <p:nvPr/>
        </p:nvSpPr>
        <p:spPr>
          <a:xfrm>
            <a:off x="4134667" y="25400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A99C033-15E5-B1B8-DBEB-37E10B833198}"/>
              </a:ext>
            </a:extLst>
          </p:cNvPr>
          <p:cNvSpPr/>
          <p:nvPr/>
        </p:nvSpPr>
        <p:spPr>
          <a:xfrm>
            <a:off x="8289925" y="25400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5EF00BD-68B3-DDBE-DCDB-9CD92E883318}"/>
              </a:ext>
            </a:extLst>
          </p:cNvPr>
          <p:cNvSpPr/>
          <p:nvPr/>
        </p:nvSpPr>
        <p:spPr>
          <a:xfrm>
            <a:off x="12757150" y="2514600"/>
            <a:ext cx="330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1364CDA-3AE7-8F86-55A0-070E7F644371}"/>
              </a:ext>
            </a:extLst>
          </p:cNvPr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015E2C4-5B12-DD4C-1C65-26B06128C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4" y="2754600"/>
            <a:ext cx="2408566" cy="48539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C34BAAE-9716-2CA4-F964-2ED864C60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6066" y="2754599"/>
            <a:ext cx="2406860" cy="4853999"/>
          </a:xfrm>
          <a:prstGeom prst="rect">
            <a:avLst/>
          </a:prstGeom>
        </p:spPr>
      </p:pic>
      <p:sp>
        <p:nvSpPr>
          <p:cNvPr id="28" name="Text 10">
            <a:extLst>
              <a:ext uri="{FF2B5EF4-FFF2-40B4-BE49-F238E27FC236}">
                <a16:creationId xmlns:a16="http://schemas.microsoft.com/office/drawing/2014/main" id="{60B6FD35-899F-CDAA-1189-463616D33EBE}"/>
              </a:ext>
            </a:extLst>
          </p:cNvPr>
          <p:cNvSpPr/>
          <p:nvPr/>
        </p:nvSpPr>
        <p:spPr>
          <a:xfrm>
            <a:off x="4388667" y="3467098"/>
            <a:ext cx="292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4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TEXT</a:t>
            </a:r>
            <a:endParaRPr lang="en-US" sz="2400" dirty="0">
              <a:latin typeface="Bell MT" panose="02020503060305020303" pitchFamily="18" charset="0"/>
            </a:endParaRP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Your tires lose air every month. Even without a hole."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4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</a:rPr>
              <a:t>Image</a:t>
            </a:r>
            <a:r>
              <a:rPr lang="en-GB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Tire slowly deflating illustration </a:t>
            </a:r>
            <a:endParaRPr lang="en-US" sz="2400" dirty="0">
              <a:solidFill>
                <a:srgbClr val="8E8E93"/>
              </a:solidFill>
              <a:latin typeface="Bell MT" panose="02020503060305020303" pitchFamily="18" charset="0"/>
              <a:ea typeface="QuattrocentoSans" pitchFamily="34" charset="-122"/>
              <a:cs typeface="QuattrocentoSans" pitchFamily="34" charset="-12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43B6D37-DFA1-66CD-C4F7-FA31B53FE0DA}"/>
              </a:ext>
            </a:extLst>
          </p:cNvPr>
          <p:cNvSpPr/>
          <p:nvPr/>
        </p:nvSpPr>
        <p:spPr>
          <a:xfrm>
            <a:off x="4388667" y="2967622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Slide  1 - Cover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E5B6A47E-A495-0BF2-1E9E-3C2632484F94}"/>
              </a:ext>
            </a:extLst>
          </p:cNvPr>
          <p:cNvSpPr/>
          <p:nvPr/>
        </p:nvSpPr>
        <p:spPr>
          <a:xfrm>
            <a:off x="8543925" y="2967622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Slide 2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E93E07C7-1008-11B2-1445-A8BB25168A32}"/>
              </a:ext>
            </a:extLst>
          </p:cNvPr>
          <p:cNvSpPr/>
          <p:nvPr/>
        </p:nvSpPr>
        <p:spPr>
          <a:xfrm>
            <a:off x="8543925" y="3467098"/>
            <a:ext cx="292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TEXT</a:t>
            </a:r>
            <a:endParaRPr lang="en-US" sz="2000" dirty="0">
              <a:latin typeface="Bell MT" panose="02020503060305020303" pitchFamily="18" charset="0"/>
            </a:endParaRP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Tires naturally lose 1–3 PSI per month. Temperature drops? Add another 1 PSI per 10°F.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</a:rPr>
              <a:t>Image</a:t>
            </a: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Thermometer next to tire </a:t>
            </a:r>
          </a:p>
        </p:txBody>
      </p:sp>
    </p:spTree>
    <p:extLst>
      <p:ext uri="{BB962C8B-B14F-4D97-AF65-F5344CB8AC3E}">
        <p14:creationId xmlns:p14="http://schemas.microsoft.com/office/powerpoint/2010/main" val="99535392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D4EA-9E10-BEF9-7EE5-15A493C14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EE4C86C-2A2E-1ED7-C5C6-B61F8AEFAD22}"/>
              </a:ext>
            </a:extLst>
          </p:cNvPr>
          <p:cNvSpPr/>
          <p:nvPr/>
        </p:nvSpPr>
        <p:spPr>
          <a:xfrm>
            <a:off x="0" y="0"/>
            <a:ext cx="16440150" cy="9144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10F7867-0AD1-5617-3485-FA23EFCA78DE}"/>
              </a:ext>
            </a:extLst>
          </p:cNvPr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Instagram Carousel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0365E8-C875-D6EA-9FA6-144063B4C416}"/>
              </a:ext>
            </a:extLst>
          </p:cNvPr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757D54-9E21-C732-5E38-13438A01492B}"/>
              </a:ext>
            </a:extLst>
          </p:cNvPr>
          <p:cNvSpPr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</a:rPr>
              <a:t>Journey Stage: Awareness → Consideration </a:t>
            </a:r>
          </a:p>
          <a:p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</a:rPr>
              <a:t>Strategic Goal: Educate on how often tires lose pressure naturally </a:t>
            </a:r>
            <a:endParaRPr lang="en-US" sz="2000" dirty="0">
              <a:solidFill>
                <a:srgbClr val="8E8E93"/>
              </a:solidFill>
              <a:latin typeface="Bell MT" panose="02020503060305020303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EDC98F-FF3A-BE71-1F2C-9F0BFEA7E9BC}"/>
              </a:ext>
            </a:extLst>
          </p:cNvPr>
          <p:cNvSpPr/>
          <p:nvPr/>
        </p:nvSpPr>
        <p:spPr>
          <a:xfrm>
            <a:off x="196850" y="25146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A071D5-49B6-B2F6-8845-5D2E89D2A99D}"/>
              </a:ext>
            </a:extLst>
          </p:cNvPr>
          <p:cNvSpPr/>
          <p:nvPr/>
        </p:nvSpPr>
        <p:spPr>
          <a:xfrm>
            <a:off x="4134667" y="25400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071F1FC-9DCD-E104-1C1B-52227FCFCE0F}"/>
              </a:ext>
            </a:extLst>
          </p:cNvPr>
          <p:cNvSpPr/>
          <p:nvPr/>
        </p:nvSpPr>
        <p:spPr>
          <a:xfrm>
            <a:off x="8289925" y="25400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357938B-D69F-BBB1-6E62-127C58786A32}"/>
              </a:ext>
            </a:extLst>
          </p:cNvPr>
          <p:cNvSpPr/>
          <p:nvPr/>
        </p:nvSpPr>
        <p:spPr>
          <a:xfrm>
            <a:off x="12757150" y="2514600"/>
            <a:ext cx="330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3E49214-2B74-C525-F72D-F06788E37E90}"/>
              </a:ext>
            </a:extLst>
          </p:cNvPr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67FAA80D-CCB3-2E0F-6770-A4CED4D9B563}"/>
              </a:ext>
            </a:extLst>
          </p:cNvPr>
          <p:cNvSpPr/>
          <p:nvPr/>
        </p:nvSpPr>
        <p:spPr>
          <a:xfrm>
            <a:off x="4388667" y="3467098"/>
            <a:ext cx="292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TEXT</a:t>
            </a:r>
            <a:endParaRPr lang="en-US" sz="2000" dirty="0">
              <a:latin typeface="Bell MT" panose="02020503060305020303" pitchFamily="18" charset="0"/>
            </a:endParaRP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Low pressure = Worse gas mileage. You're literally throwing away money.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</a:rPr>
              <a:t>Image</a:t>
            </a: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Gas pump with sad face </a:t>
            </a:r>
            <a:endParaRPr lang="en-US" sz="2000" dirty="0">
              <a:solidFill>
                <a:srgbClr val="8E8E93"/>
              </a:solidFill>
              <a:latin typeface="Bell MT" panose="02020503060305020303" pitchFamily="18" charset="0"/>
              <a:ea typeface="QuattrocentoSans" pitchFamily="34" charset="-122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D1E6C97E-8DE1-7B4D-CE46-C659D6E5F431}"/>
              </a:ext>
            </a:extLst>
          </p:cNvPr>
          <p:cNvSpPr/>
          <p:nvPr/>
        </p:nvSpPr>
        <p:spPr>
          <a:xfrm>
            <a:off x="4388667" y="2967622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Slide 3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1B9D2201-0278-FD1B-F9AC-7CE7D1F5A371}"/>
              </a:ext>
            </a:extLst>
          </p:cNvPr>
          <p:cNvSpPr/>
          <p:nvPr/>
        </p:nvSpPr>
        <p:spPr>
          <a:xfrm>
            <a:off x="8543925" y="2967622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Slide 4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93BA0DF6-7784-236C-F1CE-C4FDD799109C}"/>
              </a:ext>
            </a:extLst>
          </p:cNvPr>
          <p:cNvSpPr/>
          <p:nvPr/>
        </p:nvSpPr>
        <p:spPr>
          <a:xfrm>
            <a:off x="8543925" y="3467098"/>
            <a:ext cx="292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TEXT</a:t>
            </a:r>
            <a:endParaRPr lang="en-US" sz="2000" dirty="0">
              <a:latin typeface="Bell MT" panose="02020503060305020303" pitchFamily="18" charset="0"/>
            </a:endParaRP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Most people check tire pressure... never. Or when the light comes on (already too late).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</a:rPr>
              <a:t>Image</a:t>
            </a: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Calendar with zero checkmarks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876175-C572-9604-0FFA-D0B7C11FA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67" y="2754599"/>
            <a:ext cx="2408566" cy="4854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AD1BA4-2A0A-55CF-141B-83E05FAE8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20694" y="2788467"/>
            <a:ext cx="2912864" cy="482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4773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4C6B4-9398-3F18-1642-57709DF4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FA4DE0B-5A75-A4BA-9D13-1265775778F4}"/>
              </a:ext>
            </a:extLst>
          </p:cNvPr>
          <p:cNvSpPr/>
          <p:nvPr/>
        </p:nvSpPr>
        <p:spPr>
          <a:xfrm>
            <a:off x="0" y="0"/>
            <a:ext cx="16440150" cy="9144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A39D97A-A98D-1413-E8A8-71F052E330A2}"/>
              </a:ext>
            </a:extLst>
          </p:cNvPr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Instagram Carousel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3B061C-EC6A-3E6F-48A8-2166578CE07E}"/>
              </a:ext>
            </a:extLst>
          </p:cNvPr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D10A2A-4A6B-3520-B0C7-049D988C1E13}"/>
              </a:ext>
            </a:extLst>
          </p:cNvPr>
          <p:cNvSpPr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</a:rPr>
              <a:t>Journey Stage: Awareness → Consideration </a:t>
            </a:r>
          </a:p>
          <a:p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</a:rPr>
              <a:t>Strategic Goal: Educate on how often tires lose pressure naturally </a:t>
            </a:r>
            <a:endParaRPr lang="en-US" sz="2000" dirty="0">
              <a:solidFill>
                <a:srgbClr val="8E8E93"/>
              </a:solidFill>
              <a:latin typeface="Bell MT" panose="02020503060305020303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677B135-DC7A-D8B3-D6A0-1A0E24097ADC}"/>
              </a:ext>
            </a:extLst>
          </p:cNvPr>
          <p:cNvSpPr/>
          <p:nvPr/>
        </p:nvSpPr>
        <p:spPr>
          <a:xfrm>
            <a:off x="196850" y="25146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332497A-C3EF-604D-C7E9-903235537830}"/>
              </a:ext>
            </a:extLst>
          </p:cNvPr>
          <p:cNvSpPr/>
          <p:nvPr/>
        </p:nvSpPr>
        <p:spPr>
          <a:xfrm>
            <a:off x="4134667" y="25400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28FA68B-DB99-0401-0C91-0B18871934F9}"/>
              </a:ext>
            </a:extLst>
          </p:cNvPr>
          <p:cNvSpPr/>
          <p:nvPr/>
        </p:nvSpPr>
        <p:spPr>
          <a:xfrm>
            <a:off x="8289925" y="25400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2B5F0A6-2BF4-6FA6-1C26-ABAAFA327668}"/>
              </a:ext>
            </a:extLst>
          </p:cNvPr>
          <p:cNvSpPr/>
          <p:nvPr/>
        </p:nvSpPr>
        <p:spPr>
          <a:xfrm>
            <a:off x="12757150" y="2514600"/>
            <a:ext cx="330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08B4014-256C-7CB6-59FE-200EC93FC016}"/>
              </a:ext>
            </a:extLst>
          </p:cNvPr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2CCC04B5-E44B-2EA0-7B83-086877ED10EF}"/>
              </a:ext>
            </a:extLst>
          </p:cNvPr>
          <p:cNvSpPr/>
          <p:nvPr/>
        </p:nvSpPr>
        <p:spPr>
          <a:xfrm>
            <a:off x="4388667" y="3467098"/>
            <a:ext cx="292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TEXT</a:t>
            </a:r>
            <a:endParaRPr lang="en-US" sz="2000" dirty="0">
              <a:latin typeface="Bell MT" panose="02020503060305020303" pitchFamily="18" charset="0"/>
            </a:endParaRP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Tire Check sensors screw on in 10 seconds. No tools. No mechanic.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</a:rPr>
              <a:t>Image</a:t>
            </a: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Hand screwing a small blue sensor onto tire valve </a:t>
            </a:r>
            <a:endParaRPr lang="en-US" sz="2000" dirty="0">
              <a:solidFill>
                <a:srgbClr val="8E8E93"/>
              </a:solidFill>
              <a:latin typeface="Bell MT" panose="02020503060305020303" pitchFamily="18" charset="0"/>
              <a:ea typeface="QuattrocentoSans" pitchFamily="34" charset="-122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AB4615B9-D00F-D8E3-BBF0-EA49903E73B5}"/>
              </a:ext>
            </a:extLst>
          </p:cNvPr>
          <p:cNvSpPr/>
          <p:nvPr/>
        </p:nvSpPr>
        <p:spPr>
          <a:xfrm>
            <a:off x="4388667" y="2967622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Slide 5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E9F83CC2-3905-7B2E-3982-8F4EE86EE772}"/>
              </a:ext>
            </a:extLst>
          </p:cNvPr>
          <p:cNvSpPr/>
          <p:nvPr/>
        </p:nvSpPr>
        <p:spPr>
          <a:xfrm>
            <a:off x="8543925" y="2967622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Slide 6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2C53C4FB-8AA9-588F-811D-2BB493E41C1B}"/>
              </a:ext>
            </a:extLst>
          </p:cNvPr>
          <p:cNvSpPr/>
          <p:nvPr/>
        </p:nvSpPr>
        <p:spPr>
          <a:xfrm>
            <a:off x="8543925" y="3467098"/>
            <a:ext cx="292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TEXT</a:t>
            </a:r>
            <a:endParaRPr lang="en-US" dirty="0">
              <a:latin typeface="Bell MT" panose="02020503060305020303" pitchFamily="18" charset="0"/>
            </a:endParaRP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Open the app. See all 4 tires in one screen. Get alerts before problems start </a:t>
            </a:r>
            <a:r>
              <a:rPr lang="en-GB" sz="1600" dirty="0">
                <a:latin typeface="Bell MT" panose="02020503060305020303" pitchFamily="18" charset="0"/>
              </a:rPr>
              <a:t>.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</a:rPr>
              <a:t>Image</a:t>
            </a:r>
            <a:r>
              <a:rPr lang="en-GB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Screenshot of Tire Check app showing 4 green tires </a:t>
            </a:r>
            <a:endParaRPr lang="en-US" sz="2000" dirty="0">
              <a:solidFill>
                <a:srgbClr val="8E8E93"/>
              </a:solidFill>
              <a:latin typeface="Bell MT" panose="02020503060305020303" pitchFamily="18" charset="0"/>
              <a:ea typeface="QuattrocentoSans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89C7EC-612D-0DA7-7296-B07F47EEB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5" y="2743199"/>
            <a:ext cx="2408566" cy="47498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8CDD8F-18ED-6009-1B6C-891E3D9C5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6065" y="2743199"/>
            <a:ext cx="2406859" cy="485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39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D49A-E0E2-0286-9C8C-B662228C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C6C25AB-A0FE-8886-5BF6-E9A92EC6E8FA}"/>
              </a:ext>
            </a:extLst>
          </p:cNvPr>
          <p:cNvSpPr/>
          <p:nvPr/>
        </p:nvSpPr>
        <p:spPr>
          <a:xfrm>
            <a:off x="0" y="0"/>
            <a:ext cx="16440150" cy="9144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20AF2A8-CE5D-0C39-E93F-078987269E34}"/>
              </a:ext>
            </a:extLst>
          </p:cNvPr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Instagram Carousel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D1F8151-86E8-62D6-7B62-55766C56974D}"/>
              </a:ext>
            </a:extLst>
          </p:cNvPr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1E6DAA-752D-F9DB-58BD-85CCC163B1B9}"/>
              </a:ext>
            </a:extLst>
          </p:cNvPr>
          <p:cNvSpPr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</a:rPr>
              <a:t>Journey Stage: Awareness → Consideration </a:t>
            </a:r>
          </a:p>
          <a:p>
            <a:r>
              <a:rPr lang="en-GB" sz="2000" dirty="0">
                <a:solidFill>
                  <a:srgbClr val="8E8E93"/>
                </a:solidFill>
                <a:latin typeface="Bell MT" panose="02020503060305020303" pitchFamily="18" charset="0"/>
              </a:rPr>
              <a:t>Strategic Goal: Educate on how often tires lose pressure naturally </a:t>
            </a:r>
            <a:endParaRPr lang="en-US" sz="2000" dirty="0">
              <a:solidFill>
                <a:srgbClr val="8E8E93"/>
              </a:solidFill>
              <a:latin typeface="Bell MT" panose="02020503060305020303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5C83D89-322A-DAEB-302D-4758033E2B37}"/>
              </a:ext>
            </a:extLst>
          </p:cNvPr>
          <p:cNvSpPr/>
          <p:nvPr/>
        </p:nvSpPr>
        <p:spPr>
          <a:xfrm>
            <a:off x="196849" y="2514600"/>
            <a:ext cx="3937817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2B0A099-188A-CDF1-0CEE-0D1C43DD6177}"/>
              </a:ext>
            </a:extLst>
          </p:cNvPr>
          <p:cNvSpPr/>
          <p:nvPr/>
        </p:nvSpPr>
        <p:spPr>
          <a:xfrm>
            <a:off x="4134667" y="25400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8EEF635-A29A-0ACE-7521-EFCD428BECB5}"/>
              </a:ext>
            </a:extLst>
          </p:cNvPr>
          <p:cNvSpPr/>
          <p:nvPr/>
        </p:nvSpPr>
        <p:spPr>
          <a:xfrm>
            <a:off x="8289924" y="2540000"/>
            <a:ext cx="4467225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4A495F7-4BE8-FAAE-1FDC-8098814543A3}"/>
              </a:ext>
            </a:extLst>
          </p:cNvPr>
          <p:cNvSpPr/>
          <p:nvPr/>
        </p:nvSpPr>
        <p:spPr>
          <a:xfrm>
            <a:off x="12757150" y="2514600"/>
            <a:ext cx="330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1F11154-B73F-67DF-C38F-FD10F7DC7EFD}"/>
              </a:ext>
            </a:extLst>
          </p:cNvPr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98A803E9-D7D5-99FC-50A5-D400B1BFE884}"/>
              </a:ext>
            </a:extLst>
          </p:cNvPr>
          <p:cNvSpPr/>
          <p:nvPr/>
        </p:nvSpPr>
        <p:spPr>
          <a:xfrm>
            <a:off x="8543925" y="2967622"/>
            <a:ext cx="7289632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Slide 7 - CTA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32152082-D52A-E68D-438A-81FF30A1E796}"/>
              </a:ext>
            </a:extLst>
          </p:cNvPr>
          <p:cNvSpPr/>
          <p:nvPr/>
        </p:nvSpPr>
        <p:spPr>
          <a:xfrm>
            <a:off x="8543924" y="3467098"/>
            <a:ext cx="7289633" cy="402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8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TEXT</a:t>
            </a:r>
            <a:endParaRPr lang="en-US" sz="2800" dirty="0">
              <a:latin typeface="Bell MT" panose="02020503060305020303" pitchFamily="18" charset="0"/>
            </a:endParaRP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32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Stop guessing. Start driving safe. Link in bio for 15% off .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GB" sz="28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</a:rPr>
              <a:t>Image</a:t>
            </a:r>
            <a:r>
              <a:rPr lang="en-GB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 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US" sz="32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Tire Check product photo + QR code (mock)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8502C7-9B30-9245-320F-6772ABAB7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31" y="2766084"/>
            <a:ext cx="4956072" cy="48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4502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CLOSING THE DEAL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Decision stage — converting interest into purchases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6000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28625"/>
                </a:moveTo>
                <a:cubicBezTo>
                  <a:pt x="354866" y="428625"/>
                  <a:pt x="457200" y="332631"/>
                  <a:pt x="457200" y="214313"/>
                </a:cubicBezTo>
                <a:cubicBezTo>
                  <a:pt x="457200" y="95994"/>
                  <a:pt x="354866" y="0"/>
                  <a:pt x="228600" y="0"/>
                </a:cubicBezTo>
                <a:cubicBezTo>
                  <a:pt x="102334" y="0"/>
                  <a:pt x="0" y="95994"/>
                  <a:pt x="0" y="214313"/>
                </a:cubicBezTo>
                <a:cubicBezTo>
                  <a:pt x="0" y="262801"/>
                  <a:pt x="17145" y="307449"/>
                  <a:pt x="46077" y="343346"/>
                </a:cubicBezTo>
                <a:lnTo>
                  <a:pt x="2500" y="425768"/>
                </a:lnTo>
                <a:cubicBezTo>
                  <a:pt x="-1786" y="433804"/>
                  <a:pt x="-446" y="443627"/>
                  <a:pt x="5715" y="450324"/>
                </a:cubicBezTo>
                <a:cubicBezTo>
                  <a:pt x="11876" y="457021"/>
                  <a:pt x="21610" y="459075"/>
                  <a:pt x="29914" y="455503"/>
                </a:cubicBezTo>
                <a:lnTo>
                  <a:pt x="135642" y="410230"/>
                </a:lnTo>
                <a:cubicBezTo>
                  <a:pt x="164038" y="422017"/>
                  <a:pt x="195471" y="428625"/>
                  <a:pt x="228600" y="428625"/>
                </a:cubicBezTo>
                <a:close/>
                <a:moveTo>
                  <a:pt x="125730" y="154305"/>
                </a:moveTo>
                <a:lnTo>
                  <a:pt x="142875" y="154305"/>
                </a:lnTo>
                <a:cubicBezTo>
                  <a:pt x="150733" y="154305"/>
                  <a:pt x="157163" y="160734"/>
                  <a:pt x="157163" y="168593"/>
                </a:cubicBezTo>
                <a:cubicBezTo>
                  <a:pt x="157163" y="176451"/>
                  <a:pt x="150733" y="182880"/>
                  <a:pt x="142875" y="182880"/>
                </a:cubicBezTo>
                <a:lnTo>
                  <a:pt x="125730" y="182880"/>
                </a:lnTo>
                <a:cubicBezTo>
                  <a:pt x="120997" y="182880"/>
                  <a:pt x="117158" y="186720"/>
                  <a:pt x="117158" y="191453"/>
                </a:cubicBezTo>
                <a:cubicBezTo>
                  <a:pt x="117158" y="196185"/>
                  <a:pt x="120997" y="200025"/>
                  <a:pt x="125730" y="200025"/>
                </a:cubicBezTo>
                <a:cubicBezTo>
                  <a:pt x="146268" y="200025"/>
                  <a:pt x="162877" y="216634"/>
                  <a:pt x="162877" y="237173"/>
                </a:cubicBezTo>
                <a:cubicBezTo>
                  <a:pt x="162877" y="257711"/>
                  <a:pt x="146268" y="274320"/>
                  <a:pt x="125730" y="274320"/>
                </a:cubicBezTo>
                <a:lnTo>
                  <a:pt x="102870" y="274320"/>
                </a:lnTo>
                <a:cubicBezTo>
                  <a:pt x="95012" y="274320"/>
                  <a:pt x="88583" y="267891"/>
                  <a:pt x="88583" y="260033"/>
                </a:cubicBezTo>
                <a:cubicBezTo>
                  <a:pt x="88583" y="252174"/>
                  <a:pt x="95012" y="245745"/>
                  <a:pt x="102870" y="245745"/>
                </a:cubicBezTo>
                <a:lnTo>
                  <a:pt x="125730" y="245745"/>
                </a:lnTo>
                <a:cubicBezTo>
                  <a:pt x="130463" y="245745"/>
                  <a:pt x="134303" y="241905"/>
                  <a:pt x="134303" y="237173"/>
                </a:cubicBezTo>
                <a:cubicBezTo>
                  <a:pt x="134303" y="232440"/>
                  <a:pt x="130463" y="228600"/>
                  <a:pt x="125730" y="228600"/>
                </a:cubicBezTo>
                <a:cubicBezTo>
                  <a:pt x="105192" y="228600"/>
                  <a:pt x="88583" y="211991"/>
                  <a:pt x="88583" y="191453"/>
                </a:cubicBezTo>
                <a:cubicBezTo>
                  <a:pt x="88583" y="170914"/>
                  <a:pt x="105192" y="154305"/>
                  <a:pt x="125730" y="154305"/>
                </a:cubicBezTo>
                <a:close/>
                <a:moveTo>
                  <a:pt x="294323" y="191453"/>
                </a:moveTo>
                <a:cubicBezTo>
                  <a:pt x="294323" y="170914"/>
                  <a:pt x="310932" y="154305"/>
                  <a:pt x="331470" y="154305"/>
                </a:cubicBezTo>
                <a:lnTo>
                  <a:pt x="348615" y="154305"/>
                </a:lnTo>
                <a:cubicBezTo>
                  <a:pt x="356473" y="154305"/>
                  <a:pt x="362903" y="160734"/>
                  <a:pt x="362903" y="168593"/>
                </a:cubicBezTo>
                <a:cubicBezTo>
                  <a:pt x="362903" y="176451"/>
                  <a:pt x="356473" y="182880"/>
                  <a:pt x="348615" y="182880"/>
                </a:cubicBezTo>
                <a:lnTo>
                  <a:pt x="331470" y="182880"/>
                </a:lnTo>
                <a:cubicBezTo>
                  <a:pt x="326737" y="182880"/>
                  <a:pt x="322898" y="186720"/>
                  <a:pt x="322898" y="191453"/>
                </a:cubicBezTo>
                <a:cubicBezTo>
                  <a:pt x="322898" y="196185"/>
                  <a:pt x="326737" y="200025"/>
                  <a:pt x="331470" y="200025"/>
                </a:cubicBezTo>
                <a:cubicBezTo>
                  <a:pt x="352008" y="200025"/>
                  <a:pt x="368618" y="216634"/>
                  <a:pt x="368618" y="237173"/>
                </a:cubicBezTo>
                <a:cubicBezTo>
                  <a:pt x="368618" y="257711"/>
                  <a:pt x="352008" y="274320"/>
                  <a:pt x="331470" y="274320"/>
                </a:cubicBezTo>
                <a:lnTo>
                  <a:pt x="308610" y="274320"/>
                </a:lnTo>
                <a:cubicBezTo>
                  <a:pt x="300752" y="274320"/>
                  <a:pt x="294323" y="267891"/>
                  <a:pt x="294323" y="260033"/>
                </a:cubicBezTo>
                <a:cubicBezTo>
                  <a:pt x="294323" y="252174"/>
                  <a:pt x="300752" y="245745"/>
                  <a:pt x="308610" y="245745"/>
                </a:cubicBezTo>
                <a:lnTo>
                  <a:pt x="331470" y="245745"/>
                </a:lnTo>
                <a:cubicBezTo>
                  <a:pt x="336203" y="245745"/>
                  <a:pt x="340043" y="241905"/>
                  <a:pt x="340043" y="237173"/>
                </a:cubicBezTo>
                <a:cubicBezTo>
                  <a:pt x="340043" y="232440"/>
                  <a:pt x="336203" y="228600"/>
                  <a:pt x="331470" y="228600"/>
                </a:cubicBezTo>
                <a:cubicBezTo>
                  <a:pt x="310932" y="228600"/>
                  <a:pt x="294323" y="211991"/>
                  <a:pt x="294323" y="191453"/>
                </a:cubicBezTo>
                <a:close/>
                <a:moveTo>
                  <a:pt x="206544" y="161270"/>
                </a:moveTo>
                <a:lnTo>
                  <a:pt x="228600" y="197971"/>
                </a:lnTo>
                <a:lnTo>
                  <a:pt x="250656" y="161270"/>
                </a:lnTo>
                <a:cubicBezTo>
                  <a:pt x="253960" y="155734"/>
                  <a:pt x="260568" y="153144"/>
                  <a:pt x="266730" y="154841"/>
                </a:cubicBezTo>
                <a:cubicBezTo>
                  <a:pt x="272891" y="156537"/>
                  <a:pt x="277178" y="162163"/>
                  <a:pt x="277178" y="168593"/>
                </a:cubicBezTo>
                <a:lnTo>
                  <a:pt x="277178" y="260033"/>
                </a:lnTo>
                <a:cubicBezTo>
                  <a:pt x="277178" y="267891"/>
                  <a:pt x="270748" y="274320"/>
                  <a:pt x="262890" y="274320"/>
                </a:cubicBezTo>
                <a:cubicBezTo>
                  <a:pt x="255032" y="274320"/>
                  <a:pt x="248602" y="267891"/>
                  <a:pt x="248602" y="260033"/>
                </a:cubicBezTo>
                <a:lnTo>
                  <a:pt x="248602" y="220206"/>
                </a:lnTo>
                <a:lnTo>
                  <a:pt x="240834" y="233154"/>
                </a:lnTo>
                <a:cubicBezTo>
                  <a:pt x="238244" y="237440"/>
                  <a:pt x="233601" y="240119"/>
                  <a:pt x="228600" y="240119"/>
                </a:cubicBezTo>
                <a:cubicBezTo>
                  <a:pt x="223599" y="240119"/>
                  <a:pt x="218956" y="237440"/>
                  <a:pt x="216366" y="233154"/>
                </a:cubicBezTo>
                <a:lnTo>
                  <a:pt x="208598" y="220206"/>
                </a:lnTo>
                <a:lnTo>
                  <a:pt x="208598" y="260033"/>
                </a:lnTo>
                <a:cubicBezTo>
                  <a:pt x="208598" y="267891"/>
                  <a:pt x="202168" y="274320"/>
                  <a:pt x="194310" y="274320"/>
                </a:cubicBezTo>
                <a:cubicBezTo>
                  <a:pt x="186452" y="274320"/>
                  <a:pt x="180023" y="267891"/>
                  <a:pt x="180023" y="260033"/>
                </a:cubicBezTo>
                <a:lnTo>
                  <a:pt x="180023" y="168593"/>
                </a:lnTo>
                <a:cubicBezTo>
                  <a:pt x="180023" y="162163"/>
                  <a:pt x="184309" y="156537"/>
                  <a:pt x="190470" y="154841"/>
                </a:cubicBezTo>
                <a:cubicBezTo>
                  <a:pt x="196632" y="153144"/>
                  <a:pt x="203240" y="155734"/>
                  <a:pt x="206544" y="161270"/>
                </a:cubicBez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3619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SMS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4127500"/>
            <a:ext cx="292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Urgency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"Only 47 discount codes left. Claim yours before they run out."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Direct, time-sensitive messaging to drive immediate action.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25400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26000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57150"/>
                </a:moveTo>
                <a:cubicBezTo>
                  <a:pt x="19199" y="57150"/>
                  <a:pt x="0" y="76349"/>
                  <a:pt x="0" y="100013"/>
                </a:cubicBezTo>
                <a:cubicBezTo>
                  <a:pt x="0" y="113496"/>
                  <a:pt x="6340" y="126176"/>
                  <a:pt x="17145" y="134303"/>
                </a:cubicBezTo>
                <a:lnTo>
                  <a:pt x="202883" y="273606"/>
                </a:lnTo>
                <a:cubicBezTo>
                  <a:pt x="218152" y="285036"/>
                  <a:pt x="239048" y="285036"/>
                  <a:pt x="254318" y="273606"/>
                </a:cubicBezTo>
                <a:lnTo>
                  <a:pt x="440055" y="134302"/>
                </a:lnTo>
                <a:cubicBezTo>
                  <a:pt x="450860" y="126176"/>
                  <a:pt x="457200" y="113496"/>
                  <a:pt x="457200" y="100012"/>
                </a:cubicBezTo>
                <a:cubicBezTo>
                  <a:pt x="457200" y="76349"/>
                  <a:pt x="438001" y="57150"/>
                  <a:pt x="414338" y="57150"/>
                </a:cubicBezTo>
                <a:lnTo>
                  <a:pt x="42863" y="57150"/>
                </a:lnTo>
                <a:close/>
                <a:moveTo>
                  <a:pt x="0" y="175022"/>
                </a:move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00050" y="400050"/>
                </a:lnTo>
                <a:cubicBezTo>
                  <a:pt x="431572" y="400050"/>
                  <a:pt x="457200" y="374422"/>
                  <a:pt x="457200" y="342900"/>
                </a:cubicBezTo>
                <a:lnTo>
                  <a:pt x="457200" y="175022"/>
                </a:lnTo>
                <a:lnTo>
                  <a:pt x="280035" y="307896"/>
                </a:lnTo>
                <a:cubicBezTo>
                  <a:pt x="249585" y="330756"/>
                  <a:pt x="207615" y="330756"/>
                  <a:pt x="177165" y="307896"/>
                </a:cubicBezTo>
                <a:lnTo>
                  <a:pt x="0" y="175022"/>
                </a:ln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6000" y="3619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EMAIL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26000" y="4127500"/>
            <a:ext cx="292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Risk Reduction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14-day money-back guarantee. Full refund, no questions asked.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Removes purchase anxiety and builds confidence.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382000" y="2540000"/>
            <a:ext cx="3429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64575" y="292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0132" y="86707"/>
                </a:moveTo>
                <a:cubicBezTo>
                  <a:pt x="302716" y="49203"/>
                  <a:pt x="252889" y="28575"/>
                  <a:pt x="199936" y="28575"/>
                </a:cubicBezTo>
                <a:cubicBezTo>
                  <a:pt x="90636" y="28575"/>
                  <a:pt x="1697" y="117515"/>
                  <a:pt x="1697" y="226814"/>
                </a:cubicBezTo>
                <a:cubicBezTo>
                  <a:pt x="1697" y="261729"/>
                  <a:pt x="10805" y="295841"/>
                  <a:pt x="28129" y="325934"/>
                </a:cubicBezTo>
                <a:lnTo>
                  <a:pt x="0" y="428625"/>
                </a:lnTo>
                <a:lnTo>
                  <a:pt x="105102" y="401032"/>
                </a:lnTo>
                <a:cubicBezTo>
                  <a:pt x="134035" y="416838"/>
                  <a:pt x="166628" y="425142"/>
                  <a:pt x="199846" y="425142"/>
                </a:cubicBezTo>
                <a:lnTo>
                  <a:pt x="199936" y="425142"/>
                </a:lnTo>
                <a:cubicBezTo>
                  <a:pt x="309146" y="425142"/>
                  <a:pt x="400050" y="336203"/>
                  <a:pt x="400050" y="226903"/>
                </a:cubicBezTo>
                <a:cubicBezTo>
                  <a:pt x="400050" y="173950"/>
                  <a:pt x="377547" y="124212"/>
                  <a:pt x="340132" y="86707"/>
                </a:cubicBezTo>
                <a:close/>
                <a:moveTo>
                  <a:pt x="199936" y="391745"/>
                </a:moveTo>
                <a:cubicBezTo>
                  <a:pt x="170289" y="391745"/>
                  <a:pt x="141268" y="383798"/>
                  <a:pt x="115997" y="368796"/>
                </a:cubicBezTo>
                <a:lnTo>
                  <a:pt x="110014" y="365224"/>
                </a:lnTo>
                <a:lnTo>
                  <a:pt x="47685" y="381566"/>
                </a:lnTo>
                <a:lnTo>
                  <a:pt x="64294" y="320754"/>
                </a:lnTo>
                <a:lnTo>
                  <a:pt x="60365" y="314504"/>
                </a:lnTo>
                <a:cubicBezTo>
                  <a:pt x="43845" y="288250"/>
                  <a:pt x="35183" y="257979"/>
                  <a:pt x="35183" y="226814"/>
                </a:cubicBezTo>
                <a:cubicBezTo>
                  <a:pt x="35183" y="135999"/>
                  <a:pt x="109121" y="62061"/>
                  <a:pt x="200025" y="62061"/>
                </a:cubicBezTo>
                <a:cubicBezTo>
                  <a:pt x="244048" y="62061"/>
                  <a:pt x="285393" y="79206"/>
                  <a:pt x="316468" y="110371"/>
                </a:cubicBezTo>
                <a:cubicBezTo>
                  <a:pt x="347543" y="141536"/>
                  <a:pt x="366653" y="182880"/>
                  <a:pt x="366564" y="226903"/>
                </a:cubicBezTo>
                <a:cubicBezTo>
                  <a:pt x="366564" y="317808"/>
                  <a:pt x="290751" y="391745"/>
                  <a:pt x="199936" y="391745"/>
                </a:cubicBezTo>
                <a:close/>
                <a:moveTo>
                  <a:pt x="290304" y="268337"/>
                </a:moveTo>
                <a:cubicBezTo>
                  <a:pt x="285393" y="265837"/>
                  <a:pt x="261015" y="253871"/>
                  <a:pt x="256461" y="252264"/>
                </a:cubicBezTo>
                <a:cubicBezTo>
                  <a:pt x="251906" y="250567"/>
                  <a:pt x="248603" y="249763"/>
                  <a:pt x="245299" y="254764"/>
                </a:cubicBezTo>
                <a:cubicBezTo>
                  <a:pt x="241995" y="259765"/>
                  <a:pt x="232529" y="270837"/>
                  <a:pt x="229582" y="274231"/>
                </a:cubicBezTo>
                <a:cubicBezTo>
                  <a:pt x="226725" y="277535"/>
                  <a:pt x="223778" y="277981"/>
                  <a:pt x="218867" y="275481"/>
                </a:cubicBezTo>
                <a:cubicBezTo>
                  <a:pt x="189756" y="260925"/>
                  <a:pt x="170646" y="249495"/>
                  <a:pt x="151448" y="216545"/>
                </a:cubicBezTo>
                <a:cubicBezTo>
                  <a:pt x="146358" y="207794"/>
                  <a:pt x="156537" y="208419"/>
                  <a:pt x="166003" y="189488"/>
                </a:cubicBezTo>
                <a:cubicBezTo>
                  <a:pt x="167610" y="186184"/>
                  <a:pt x="166807" y="183326"/>
                  <a:pt x="165556" y="180826"/>
                </a:cubicBezTo>
                <a:cubicBezTo>
                  <a:pt x="164306" y="178326"/>
                  <a:pt x="154394" y="153948"/>
                  <a:pt x="150287" y="144036"/>
                </a:cubicBezTo>
                <a:cubicBezTo>
                  <a:pt x="146268" y="134392"/>
                  <a:pt x="142161" y="135731"/>
                  <a:pt x="139125" y="135553"/>
                </a:cubicBezTo>
                <a:cubicBezTo>
                  <a:pt x="136267" y="135374"/>
                  <a:pt x="132963" y="135374"/>
                  <a:pt x="129659" y="135374"/>
                </a:cubicBezTo>
                <a:cubicBezTo>
                  <a:pt x="126355" y="135374"/>
                  <a:pt x="120997" y="136624"/>
                  <a:pt x="116443" y="141536"/>
                </a:cubicBezTo>
                <a:cubicBezTo>
                  <a:pt x="111889" y="146536"/>
                  <a:pt x="99120" y="158502"/>
                  <a:pt x="99120" y="182880"/>
                </a:cubicBezTo>
                <a:cubicBezTo>
                  <a:pt x="99120" y="207258"/>
                  <a:pt x="116890" y="230832"/>
                  <a:pt x="119301" y="234136"/>
                </a:cubicBezTo>
                <a:cubicBezTo>
                  <a:pt x="121801" y="237440"/>
                  <a:pt x="154216" y="287447"/>
                  <a:pt x="203954" y="308967"/>
                </a:cubicBezTo>
                <a:cubicBezTo>
                  <a:pt x="235387" y="322540"/>
                  <a:pt x="247710" y="323701"/>
                  <a:pt x="263426" y="321379"/>
                </a:cubicBezTo>
                <a:cubicBezTo>
                  <a:pt x="272981" y="319951"/>
                  <a:pt x="292715" y="309414"/>
                  <a:pt x="296823" y="297805"/>
                </a:cubicBezTo>
                <a:cubicBezTo>
                  <a:pt x="300930" y="286196"/>
                  <a:pt x="300930" y="276285"/>
                  <a:pt x="299680" y="274231"/>
                </a:cubicBezTo>
                <a:cubicBezTo>
                  <a:pt x="298519" y="271998"/>
                  <a:pt x="295215" y="270748"/>
                  <a:pt x="290304" y="268337"/>
                </a:cubicBez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36000" y="3619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WHATSAPP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36000" y="4127500"/>
            <a:ext cx="292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Interactive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AI-powered bot for instant FAQs, product guidance, and order support.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24/7 availability in Arabic and English.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192000" y="2540000"/>
            <a:ext cx="330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417425" y="2921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74600" y="85725"/>
                </a:moveTo>
                <a:cubicBezTo>
                  <a:pt x="359777" y="85725"/>
                  <a:pt x="345400" y="89743"/>
                  <a:pt x="332809" y="97066"/>
                </a:cubicBezTo>
                <a:cubicBezTo>
                  <a:pt x="318701" y="82778"/>
                  <a:pt x="302270" y="70812"/>
                  <a:pt x="284143" y="61793"/>
                </a:cubicBezTo>
                <a:cubicBezTo>
                  <a:pt x="309324" y="40362"/>
                  <a:pt x="341382" y="28575"/>
                  <a:pt x="374600" y="28575"/>
                </a:cubicBezTo>
                <a:cubicBezTo>
                  <a:pt x="451753" y="28575"/>
                  <a:pt x="514350" y="91083"/>
                  <a:pt x="514350" y="168325"/>
                </a:cubicBezTo>
                <a:cubicBezTo>
                  <a:pt x="514350" y="205383"/>
                  <a:pt x="499616" y="240923"/>
                  <a:pt x="473452" y="267087"/>
                </a:cubicBezTo>
                <a:lnTo>
                  <a:pt x="409962" y="330577"/>
                </a:lnTo>
                <a:cubicBezTo>
                  <a:pt x="383798" y="356741"/>
                  <a:pt x="348258" y="371475"/>
                  <a:pt x="311200" y="371475"/>
                </a:cubicBezTo>
                <a:cubicBezTo>
                  <a:pt x="234047" y="371475"/>
                  <a:pt x="171450" y="308967"/>
                  <a:pt x="171450" y="231725"/>
                </a:cubicBezTo>
                <a:cubicBezTo>
                  <a:pt x="171450" y="230386"/>
                  <a:pt x="171450" y="229046"/>
                  <a:pt x="171539" y="227707"/>
                </a:cubicBezTo>
                <a:cubicBezTo>
                  <a:pt x="171986" y="211901"/>
                  <a:pt x="185112" y="199489"/>
                  <a:pt x="200918" y="199936"/>
                </a:cubicBezTo>
                <a:cubicBezTo>
                  <a:pt x="216724" y="200382"/>
                  <a:pt x="229136" y="213509"/>
                  <a:pt x="228689" y="229314"/>
                </a:cubicBezTo>
                <a:cubicBezTo>
                  <a:pt x="228689" y="230118"/>
                  <a:pt x="228689" y="230922"/>
                  <a:pt x="228689" y="231636"/>
                </a:cubicBezTo>
                <a:cubicBezTo>
                  <a:pt x="228689" y="277267"/>
                  <a:pt x="265658" y="314236"/>
                  <a:pt x="311289" y="314236"/>
                </a:cubicBezTo>
                <a:cubicBezTo>
                  <a:pt x="333167" y="314236"/>
                  <a:pt x="354151" y="305574"/>
                  <a:pt x="369689" y="290036"/>
                </a:cubicBezTo>
                <a:lnTo>
                  <a:pt x="433179" y="226546"/>
                </a:lnTo>
                <a:cubicBezTo>
                  <a:pt x="448628" y="211098"/>
                  <a:pt x="457379" y="190024"/>
                  <a:pt x="457379" y="168146"/>
                </a:cubicBezTo>
                <a:cubicBezTo>
                  <a:pt x="457379" y="122515"/>
                  <a:pt x="420410" y="85546"/>
                  <a:pt x="374779" y="85546"/>
                </a:cubicBezTo>
                <a:close/>
                <a:moveTo>
                  <a:pt x="245745" y="154751"/>
                </a:moveTo>
                <a:cubicBezTo>
                  <a:pt x="244048" y="154037"/>
                  <a:pt x="242352" y="153055"/>
                  <a:pt x="240834" y="151983"/>
                </a:cubicBezTo>
                <a:cubicBezTo>
                  <a:pt x="229582" y="146179"/>
                  <a:pt x="216724" y="142875"/>
                  <a:pt x="203240" y="142875"/>
                </a:cubicBezTo>
                <a:cubicBezTo>
                  <a:pt x="181362" y="142875"/>
                  <a:pt x="160377" y="151537"/>
                  <a:pt x="144840" y="167074"/>
                </a:cubicBezTo>
                <a:lnTo>
                  <a:pt x="81349" y="230565"/>
                </a:lnTo>
                <a:cubicBezTo>
                  <a:pt x="65901" y="246013"/>
                  <a:pt x="57150" y="267087"/>
                  <a:pt x="57150" y="288965"/>
                </a:cubicBezTo>
                <a:cubicBezTo>
                  <a:pt x="57150" y="334595"/>
                  <a:pt x="94119" y="371564"/>
                  <a:pt x="139750" y="371564"/>
                </a:cubicBezTo>
                <a:cubicBezTo>
                  <a:pt x="154484" y="371564"/>
                  <a:pt x="168860" y="367635"/>
                  <a:pt x="181451" y="360313"/>
                </a:cubicBezTo>
                <a:cubicBezTo>
                  <a:pt x="195560" y="374600"/>
                  <a:pt x="211991" y="386566"/>
                  <a:pt x="230207" y="395585"/>
                </a:cubicBezTo>
                <a:cubicBezTo>
                  <a:pt x="205026" y="416927"/>
                  <a:pt x="173057" y="428804"/>
                  <a:pt x="139750" y="428804"/>
                </a:cubicBezTo>
                <a:cubicBezTo>
                  <a:pt x="62597" y="428804"/>
                  <a:pt x="0" y="366296"/>
                  <a:pt x="0" y="289054"/>
                </a:cubicBezTo>
                <a:cubicBezTo>
                  <a:pt x="0" y="251996"/>
                  <a:pt x="14734" y="216456"/>
                  <a:pt x="40898" y="190292"/>
                </a:cubicBezTo>
                <a:lnTo>
                  <a:pt x="104388" y="126802"/>
                </a:lnTo>
                <a:cubicBezTo>
                  <a:pt x="130552" y="100638"/>
                  <a:pt x="166092" y="85904"/>
                  <a:pt x="203150" y="85904"/>
                </a:cubicBezTo>
                <a:cubicBezTo>
                  <a:pt x="280481" y="85904"/>
                  <a:pt x="342900" y="148947"/>
                  <a:pt x="342900" y="226010"/>
                </a:cubicBezTo>
                <a:cubicBezTo>
                  <a:pt x="342900" y="227171"/>
                  <a:pt x="342900" y="228332"/>
                  <a:pt x="342900" y="229493"/>
                </a:cubicBezTo>
                <a:cubicBezTo>
                  <a:pt x="342543" y="245299"/>
                  <a:pt x="329416" y="257711"/>
                  <a:pt x="313611" y="257354"/>
                </a:cubicBezTo>
                <a:cubicBezTo>
                  <a:pt x="297805" y="256996"/>
                  <a:pt x="285393" y="243870"/>
                  <a:pt x="285750" y="228064"/>
                </a:cubicBezTo>
                <a:cubicBezTo>
                  <a:pt x="285750" y="227350"/>
                  <a:pt x="285750" y="226725"/>
                  <a:pt x="285750" y="226010"/>
                </a:cubicBezTo>
                <a:cubicBezTo>
                  <a:pt x="285750" y="195917"/>
                  <a:pt x="269677" y="169485"/>
                  <a:pt x="245745" y="154930"/>
                </a:cubicBez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446000" y="3619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INSTANT BUY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446000" y="4127500"/>
            <a:ext cx="279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E63946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Zero Friction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One-tap purchase links sent directly via SMS and WhatsApp.</a:t>
            </a:r>
            <a:endParaRPr lang="en-US" sz="1800" dirty="0">
              <a:latin typeface="Bell MT" panose="02020503060305020303" pitchFamily="18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  <a:cs typeface="QuattrocentoSans" pitchFamily="34" charset="-120"/>
              </a:rPr>
              <a:t>No website navigation required. Buy in under 30 seconds.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C5958-47CB-5F9A-0E73-E0133FAE1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4C08470-87DC-719A-90B6-1CB58E34BE17}"/>
              </a:ext>
            </a:extLst>
          </p:cNvPr>
          <p:cNvSpPr/>
          <p:nvPr/>
        </p:nvSpPr>
        <p:spPr>
          <a:xfrm>
            <a:off x="0" y="0"/>
            <a:ext cx="16440150" cy="9144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223F599-CA2E-CAA2-F7E7-AD5DCECE12C7}"/>
              </a:ext>
            </a:extLst>
          </p:cNvPr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Professional Email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CEF59F-5B83-2F69-8C07-F3EB385109D4}"/>
              </a:ext>
            </a:extLst>
          </p:cNvPr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556383-540A-3C9E-FEE2-59899A8A784B}"/>
              </a:ext>
            </a:extLst>
          </p:cNvPr>
          <p:cNvSpPr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Why Tire Check is the smart choice for every driver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FD89AB5-375E-6834-7260-CD7AB0F67052}"/>
              </a:ext>
            </a:extLst>
          </p:cNvPr>
          <p:cNvSpPr/>
          <p:nvPr/>
        </p:nvSpPr>
        <p:spPr>
          <a:xfrm>
            <a:off x="76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A7008B9-FF35-BE97-BB8C-480B705B1197}"/>
              </a:ext>
            </a:extLst>
          </p:cNvPr>
          <p:cNvSpPr/>
          <p:nvPr/>
        </p:nvSpPr>
        <p:spPr>
          <a:xfrm>
            <a:off x="1016000" y="2794000"/>
            <a:ext cx="406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GB" sz="32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Journey Stage: Consideration Strategic Goal: Offer a 14-day money-back guarantee to reduce risk </a:t>
            </a:r>
          </a:p>
          <a:p>
            <a:pPr algn="ctr"/>
            <a:r>
              <a:rPr lang="en-GB" sz="32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Subject Line: You're 2 minutes away from safer driving </a:t>
            </a:r>
            <a:endParaRPr lang="en-US" sz="3200" dirty="0">
              <a:solidFill>
                <a:srgbClr val="8E8E93"/>
              </a:solidFill>
              <a:latin typeface="Bell MT" panose="02020503060305020303" pitchFamily="18" charset="0"/>
              <a:ea typeface="QuattrocentoSans" pitchFamily="34" charset="-122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A9E67C-5B05-9611-7FF6-9E7E40840F2D}"/>
              </a:ext>
            </a:extLst>
          </p:cNvPr>
          <p:cNvSpPr/>
          <p:nvPr/>
        </p:nvSpPr>
        <p:spPr>
          <a:xfrm>
            <a:off x="584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547B561-DAF3-3DEB-8F1A-88E88AC8F81C}"/>
              </a:ext>
            </a:extLst>
          </p:cNvPr>
          <p:cNvSpPr/>
          <p:nvPr/>
        </p:nvSpPr>
        <p:spPr>
          <a:xfrm>
            <a:off x="6096000" y="2794000"/>
            <a:ext cx="406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Body : </a:t>
            </a:r>
          </a:p>
          <a:p>
            <a:pPr algn="ctr"/>
            <a:r>
              <a:rPr lang="en-US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Hi [First Name], </a:t>
            </a:r>
          </a:p>
          <a:p>
            <a:pPr algn="ctr"/>
            <a:r>
              <a:rPr lang="en-GB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You looked at Tire Check but didn't buy. That's okay — we understand. </a:t>
            </a:r>
          </a:p>
          <a:p>
            <a:pPr algn="ctr"/>
            <a:r>
              <a:rPr lang="en-US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You might be thinking: </a:t>
            </a:r>
          </a:p>
          <a:p>
            <a:pPr algn="ctr"/>
            <a:r>
              <a:rPr lang="en-GB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"Will it really fit my car?" (Yes — fits any car with standard valves) </a:t>
            </a:r>
          </a:p>
          <a:p>
            <a:pPr algn="ctr"/>
            <a:r>
              <a:rPr lang="en-GB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"Is installation hard?" (Screw on. That's it.) </a:t>
            </a:r>
          </a:p>
          <a:p>
            <a:pPr algn="ctr"/>
            <a:r>
              <a:rPr lang="en-GB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"What if I don't like it</a:t>
            </a:r>
            <a:r>
              <a:rPr lang="en-GB" sz="2000" dirty="0">
                <a:latin typeface="Bell MT" panose="02020503060305020303" pitchFamily="18" charset="0"/>
              </a:rPr>
              <a:t>?" 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324D349-F0B5-7BA2-D7FA-1CF90BAE609B}"/>
              </a:ext>
            </a:extLst>
          </p:cNvPr>
          <p:cNvSpPr/>
          <p:nvPr/>
        </p:nvSpPr>
        <p:spPr>
          <a:xfrm>
            <a:off x="1092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EE751BB-6CE7-C42F-2E37-EEC8D5115A5D}"/>
              </a:ext>
            </a:extLst>
          </p:cNvPr>
          <p:cNvSpPr/>
          <p:nvPr/>
        </p:nvSpPr>
        <p:spPr>
          <a:xfrm>
            <a:off x="11176000" y="2794000"/>
            <a:ext cx="406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GB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Here's our promise: Try Tire Check for 14 days. If you don't love it, return it for a full refund. No questions. No restocking fee. </a:t>
            </a:r>
          </a:p>
          <a:p>
            <a:pPr algn="ctr"/>
            <a:r>
              <a:rPr lang="en-GB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Plus: Use code SAFERIDE for 15% off your first order. </a:t>
            </a:r>
          </a:p>
          <a:p>
            <a:pPr algn="ctr"/>
            <a:r>
              <a:rPr lang="en-GB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[Button: Claim 15% Off Now] </a:t>
            </a:r>
          </a:p>
          <a:p>
            <a:pPr algn="ctr"/>
            <a:r>
              <a:rPr lang="en-GB" sz="2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Stay safe out there, The Tire Check Team </a:t>
            </a:r>
            <a:endParaRPr lang="en-US" sz="2400" dirty="0">
              <a:solidFill>
                <a:srgbClr val="8E8E93"/>
              </a:solidFill>
              <a:latin typeface="Bell MT" panose="02020503060305020303" pitchFamily="18" charset="0"/>
              <a:ea typeface="QuattrocentoSans" pitchFamily="34" charset="-122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450130E-C954-F383-0336-577816DC5205}"/>
              </a:ext>
            </a:extLst>
          </p:cNvPr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3907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A130-B3BC-7B15-10F0-F684D1F0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B60362E-13EB-6AC3-83CD-484E573DECD9}"/>
              </a:ext>
            </a:extLst>
          </p:cNvPr>
          <p:cNvSpPr/>
          <p:nvPr/>
        </p:nvSpPr>
        <p:spPr>
          <a:xfrm>
            <a:off x="0" y="0"/>
            <a:ext cx="16440150" cy="9144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D26914D-7242-974D-8122-97EB809201D5}"/>
              </a:ext>
            </a:extLst>
          </p:cNvPr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SMS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2CDE6F-601F-5566-B861-C731C70C26D1}"/>
              </a:ext>
            </a:extLst>
          </p:cNvPr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55C575-FB0A-4406-D211-8E2411C40FF6}"/>
              </a:ext>
            </a:extLst>
          </p:cNvPr>
          <p:cNvSpPr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Why Tire Check is the smart choice for every driver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933854-857F-120D-2F7F-C7058287B658}"/>
              </a:ext>
            </a:extLst>
          </p:cNvPr>
          <p:cNvSpPr/>
          <p:nvPr/>
        </p:nvSpPr>
        <p:spPr>
          <a:xfrm>
            <a:off x="76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AC380B-4150-94CF-6459-028ED05DB228}"/>
              </a:ext>
            </a:extLst>
          </p:cNvPr>
          <p:cNvSpPr/>
          <p:nvPr/>
        </p:nvSpPr>
        <p:spPr>
          <a:xfrm>
            <a:off x="1016000" y="2794000"/>
            <a:ext cx="406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Journey Stage: Consideration → Decision 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7836CD8-0805-1BC8-AD49-2B5DC3F08492}"/>
              </a:ext>
            </a:extLst>
          </p:cNvPr>
          <p:cNvSpPr/>
          <p:nvPr/>
        </p:nvSpPr>
        <p:spPr>
          <a:xfrm>
            <a:off x="584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35AD235-9ADB-1352-4D12-56365B094F6C}"/>
              </a:ext>
            </a:extLst>
          </p:cNvPr>
          <p:cNvSpPr/>
          <p:nvPr/>
        </p:nvSpPr>
        <p:spPr>
          <a:xfrm>
            <a:off x="6096000" y="2794000"/>
            <a:ext cx="406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GB" sz="54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Strategic Goal: Urgent discount for first 100 customers 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F695253-C1A7-CC78-B357-DC8C179352F9}"/>
              </a:ext>
            </a:extLst>
          </p:cNvPr>
          <p:cNvSpPr/>
          <p:nvPr/>
        </p:nvSpPr>
        <p:spPr>
          <a:xfrm>
            <a:off x="1092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0F7918C-5D54-2320-18D8-48744941CE11}"/>
              </a:ext>
            </a:extLst>
          </p:cNvPr>
          <p:cNvSpPr/>
          <p:nvPr/>
        </p:nvSpPr>
        <p:spPr>
          <a:xfrm>
            <a:off x="11176000" y="2794000"/>
            <a:ext cx="406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36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Message: </a:t>
            </a:r>
          </a:p>
          <a:p>
            <a:pPr algn="ctr"/>
            <a:r>
              <a:rPr lang="en-GB" sz="36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100 people bought Tire Check this week. You left yours in the cart. Use code FLAT20 for 20% off — but only 47 codes left. Reply STOP to opt out. </a:t>
            </a:r>
            <a:endParaRPr lang="en-US" sz="3600" dirty="0">
              <a:solidFill>
                <a:srgbClr val="8E8E93"/>
              </a:solidFill>
              <a:latin typeface="Bell MT" panose="02020503060305020303" pitchFamily="18" charset="0"/>
              <a:ea typeface="QuattrocentoSans" pitchFamily="34" charset="-122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6777BF8-71AA-9E05-A563-5BE534FC4FA7}"/>
              </a:ext>
            </a:extLst>
          </p:cNvPr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2255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FE513-84B9-FBC6-C912-27469A2D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D5FF2C3-AE62-BE17-F8BD-238CD01B18D3}"/>
              </a:ext>
            </a:extLst>
          </p:cNvPr>
          <p:cNvSpPr/>
          <p:nvPr/>
        </p:nvSpPr>
        <p:spPr>
          <a:xfrm>
            <a:off x="0" y="0"/>
            <a:ext cx="16440150" cy="9144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B25D9DB-0EBD-AE94-53F6-BAA36EF35683}"/>
              </a:ext>
            </a:extLst>
          </p:cNvPr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GB" sz="3600" kern="0" spc="200" dirty="0">
                <a:solidFill>
                  <a:srgbClr val="F5F5F7"/>
                </a:solidFill>
                <a:latin typeface="Bell MT" panose="02020503060305020303" pitchFamily="18" charset="0"/>
              </a:rPr>
              <a:t>Y</a:t>
            </a: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</a:rPr>
              <a:t>outube Long Form Script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5835A9D-DA08-27BA-5900-3833ABA8FB69}"/>
              </a:ext>
            </a:extLst>
          </p:cNvPr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CFDBFE7-9B09-1E24-6F56-6C4174FBF60D}"/>
              </a:ext>
            </a:extLst>
          </p:cNvPr>
          <p:cNvSpPr/>
          <p:nvPr/>
        </p:nvSpPr>
        <p:spPr>
          <a:xfrm>
            <a:off x="76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06384A-A16A-0BEB-298C-7422FD964238}"/>
              </a:ext>
            </a:extLst>
          </p:cNvPr>
          <p:cNvSpPr/>
          <p:nvPr/>
        </p:nvSpPr>
        <p:spPr>
          <a:xfrm>
            <a:off x="1016000" y="2540000"/>
            <a:ext cx="406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GB" sz="36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Journey Stage: Consideration Strategic Goal: Show installation and app setup step-by-step </a:t>
            </a:r>
          </a:p>
          <a:p>
            <a:pPr algn="ctr"/>
            <a:r>
              <a:rPr lang="en-GB" sz="36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Title: Don't Get a Flat Tire Again - Tire Check Review &amp; Install  </a:t>
            </a:r>
            <a:endParaRPr lang="en-US" sz="3600" dirty="0">
              <a:solidFill>
                <a:srgbClr val="8E8E93"/>
              </a:solidFill>
              <a:latin typeface="Bell MT" panose="02020503060305020303" pitchFamily="18" charset="0"/>
              <a:ea typeface="QuattrocentoSans" pitchFamily="34" charset="-122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3B74E09-9D3D-366F-9FBD-6E9A7CEC5375}"/>
              </a:ext>
            </a:extLst>
          </p:cNvPr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3BC512-6BE6-0A23-5393-2B2F75B5C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691849"/>
              </p:ext>
            </p:extLst>
          </p:nvPr>
        </p:nvGraphicFramePr>
        <p:xfrm>
          <a:off x="5468408" y="2540000"/>
          <a:ext cx="10787592" cy="613636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806221">
                  <a:extLst>
                    <a:ext uri="{9D8B030D-6E8A-4147-A177-3AD203B41FA5}">
                      <a16:colId xmlns:a16="http://schemas.microsoft.com/office/drawing/2014/main" val="605841630"/>
                    </a:ext>
                  </a:extLst>
                </a:gridCol>
                <a:gridCol w="6981371">
                  <a:extLst>
                    <a:ext uri="{9D8B030D-6E8A-4147-A177-3AD203B41FA5}">
                      <a16:colId xmlns:a16="http://schemas.microsoft.com/office/drawing/2014/main" val="967280883"/>
                    </a:ext>
                  </a:extLst>
                </a:gridCol>
              </a:tblGrid>
              <a:tr h="1009136">
                <a:tc>
                  <a:txBody>
                    <a:bodyPr/>
                    <a:lstStyle/>
                    <a:p>
                      <a:r>
                        <a:rPr lang="en-GB" sz="3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Field</a:t>
                      </a:r>
                      <a:endParaRPr lang="en-US" sz="3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Content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963478"/>
                  </a:ext>
                </a:extLst>
              </a:tr>
              <a:tr h="1009136">
                <a:tc>
                  <a:txBody>
                    <a:bodyPr/>
                    <a:lstStyle/>
                    <a:p>
                      <a:r>
                        <a:rPr lang="en-GB" sz="3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Title</a:t>
                      </a:r>
                      <a:endParaRPr lang="en-US" sz="3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Tire Check Review: Install in 2 Minutes &amp; Never Guess Tire Pressure Again </a:t>
                      </a:r>
                      <a:endParaRPr lang="en-US" sz="24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637125"/>
                  </a:ext>
                </a:extLst>
              </a:tr>
              <a:tr h="1297460">
                <a:tc>
                  <a:txBody>
                    <a:bodyPr/>
                    <a:lstStyle/>
                    <a:p>
                      <a:r>
                        <a:rPr lang="en-GB" sz="3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SEO Description</a:t>
                      </a:r>
                      <a:endParaRPr lang="en-US" sz="3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Flat tires cost time and money. Tire Check sends real-time pressure alerts to your phone. In this video, I install the sensors, connect to the app, and test the alerts. Works with any car. 14-day money-back guarantee. </a:t>
                      </a:r>
                      <a:endParaRPr lang="en-US" sz="24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830911"/>
                  </a:ext>
                </a:extLst>
              </a:tr>
              <a:tr h="1009136">
                <a:tc>
                  <a:txBody>
                    <a:bodyPr/>
                    <a:lstStyle/>
                    <a:p>
                      <a:r>
                        <a:rPr lang="en-GB" sz="3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Tags</a:t>
                      </a:r>
                      <a:endParaRPr lang="en-US" sz="3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tire pressure monitor, Tire Check review, car accessories, Bluetooth tire sensor, DIY car maintenance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284391"/>
                  </a:ext>
                </a:extLst>
              </a:tr>
              <a:tr h="1009136">
                <a:tc>
                  <a:txBody>
                    <a:bodyPr/>
                    <a:lstStyle/>
                    <a:p>
                      <a:r>
                        <a:rPr lang="en-GB" sz="3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Script (2-3 min.)</a:t>
                      </a:r>
                      <a:endParaRPr lang="en-US" sz="3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Time of the video</a:t>
                      </a:r>
                      <a:endParaRPr lang="en-US" sz="24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88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68962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7B399-A56D-2A8B-1F74-7DD7E7E5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6858681-93D4-8688-037D-24DF474DB588}"/>
              </a:ext>
            </a:extLst>
          </p:cNvPr>
          <p:cNvSpPr/>
          <p:nvPr/>
        </p:nvSpPr>
        <p:spPr>
          <a:xfrm>
            <a:off x="0" y="0"/>
            <a:ext cx="16440150" cy="9144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22C073-E625-B744-3243-C910FC8D55B9}"/>
              </a:ext>
            </a:extLst>
          </p:cNvPr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GB" sz="3600" kern="0" spc="200" dirty="0">
                <a:solidFill>
                  <a:srgbClr val="F5F5F7"/>
                </a:solidFill>
                <a:latin typeface="Bell MT" panose="02020503060305020303" pitchFamily="18" charset="0"/>
              </a:rPr>
              <a:t>Y</a:t>
            </a: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</a:rPr>
              <a:t>outube Long Form Script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EBDC31-5BAE-957E-8CBF-ED063A2C2483}"/>
              </a:ext>
            </a:extLst>
          </p:cNvPr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6DE0BB8-8E2A-8E99-E9C2-D4EACCF3AA7B}"/>
              </a:ext>
            </a:extLst>
          </p:cNvPr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E05781-8986-051B-A9DD-A825C7DE0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30162"/>
              </p:ext>
            </p:extLst>
          </p:nvPr>
        </p:nvGraphicFramePr>
        <p:xfrm>
          <a:off x="761999" y="1644054"/>
          <a:ext cx="15109371" cy="686494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036457">
                  <a:extLst>
                    <a:ext uri="{9D8B030D-6E8A-4147-A177-3AD203B41FA5}">
                      <a16:colId xmlns:a16="http://schemas.microsoft.com/office/drawing/2014/main" val="2823816297"/>
                    </a:ext>
                  </a:extLst>
                </a:gridCol>
                <a:gridCol w="5036457">
                  <a:extLst>
                    <a:ext uri="{9D8B030D-6E8A-4147-A177-3AD203B41FA5}">
                      <a16:colId xmlns:a16="http://schemas.microsoft.com/office/drawing/2014/main" val="3507898952"/>
                    </a:ext>
                  </a:extLst>
                </a:gridCol>
                <a:gridCol w="5036457">
                  <a:extLst>
                    <a:ext uri="{9D8B030D-6E8A-4147-A177-3AD203B41FA5}">
                      <a16:colId xmlns:a16="http://schemas.microsoft.com/office/drawing/2014/main" val="3587920277"/>
                    </a:ext>
                  </a:extLst>
                </a:gridCol>
              </a:tblGrid>
              <a:tr h="692680">
                <a:tc>
                  <a:txBody>
                    <a:bodyPr/>
                    <a:lstStyle/>
                    <a:p>
                      <a:r>
                        <a:rPr lang="en-GB" sz="3600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Time</a:t>
                      </a:r>
                      <a:endParaRPr lang="en-US" sz="3600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Voice Over - VO</a:t>
                      </a:r>
                      <a:endParaRPr lang="en-US" sz="3600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Visual Insert</a:t>
                      </a:r>
                      <a:endParaRPr lang="en-US" sz="3600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728925"/>
                  </a:ext>
                </a:extLst>
              </a:tr>
              <a:tr h="802386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0:00–0:15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"I got a flat tire on my way to work last month. Ruined my morning and cost me $180. That's when I found Tire Check." 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Host on camera, holding a flat tire or standing next to car 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832875"/>
                  </a:ext>
                </a:extLst>
              </a:tr>
              <a:tr h="802386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0:15–0:30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"Tire Check is a set of 4 Bluetooth sensors. They screw onto your tire valves and send pressure data straight to your phone." 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Close-up of sensor in hand, then screwing onto tire 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669178"/>
                  </a:ext>
                </a:extLst>
              </a:tr>
              <a:tr h="802386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0:30–0:50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"Installation takes 2 minutes. No tools. No jack. Just unscrew the cap, screw on the sensor, and you're done." 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Time-lapse of installing all 4 sensors 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265759"/>
                  </a:ext>
                </a:extLst>
              </a:tr>
              <a:tr h="802386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0:50–1:10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"Now open the free app. It auto-detects the sensors. You'll see all 4 tires — pressure and temperature." 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Screen recording of app showing 32 PSI on all tires 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480955"/>
                  </a:ext>
                </a:extLst>
              </a:tr>
              <a:tr h="692680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1:10–1:30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"Here's the best part. If pressure drops below your set limit, you get a notification immediately. Not after you're already on the road."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Mock notification popup: "Left rear: 26 PSI — inflate soon"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58485"/>
                  </a:ext>
                </a:extLst>
              </a:tr>
              <a:tr h="692680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1:30–1:50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"Battery lasts 12 months. When it dies, you just replace the whole sensor — about $8 each."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Animated diagram showing battery replacement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265510"/>
                  </a:ext>
                </a:extLst>
              </a:tr>
              <a:tr h="692680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1:50–2:10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"Is it worth it? For me, yes. One prevented flat pays for itself. Link in description for 15% off."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Host back on camera, holding </a:t>
                      </a:r>
                      <a:r>
                        <a:rPr lang="en-GB" sz="1600" b="1" kern="1200" dirty="0" err="1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TireCheck</a:t>
                      </a:r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 box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433856"/>
                  </a:ext>
                </a:extLst>
              </a:tr>
              <a:tr h="692680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2:10–2:20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"Subscribe for more car tech reviews. Drive safe."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End screen with subscribe button and </a:t>
                      </a:r>
                      <a:r>
                        <a:rPr lang="en-GB" sz="1600" b="1" kern="1200" dirty="0" err="1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TireCheck</a:t>
                      </a:r>
                      <a:r>
                        <a:rPr lang="en-GB" sz="16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 logo</a:t>
                      </a:r>
                      <a:endParaRPr lang="en-US" sz="16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098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66523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4D75A-038B-1E21-1641-4D57A570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467A4D2-C60D-B2DD-CDC3-AD121A4DC27F}"/>
              </a:ext>
            </a:extLst>
          </p:cNvPr>
          <p:cNvSpPr/>
          <p:nvPr/>
        </p:nvSpPr>
        <p:spPr>
          <a:xfrm>
            <a:off x="0" y="0"/>
            <a:ext cx="16440150" cy="9144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570D15E-2219-C38D-5B5B-90E3BC942414}"/>
              </a:ext>
            </a:extLst>
          </p:cNvPr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GB" sz="3600" kern="0" spc="200" dirty="0">
                <a:solidFill>
                  <a:srgbClr val="F5F5F7"/>
                </a:solidFill>
                <a:latin typeface="Bell MT" panose="02020503060305020303" pitchFamily="18" charset="0"/>
              </a:rPr>
              <a:t>TikTok – Reels (Personal Branding Video)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638765-E5A9-9431-F76A-677D429A323F}"/>
              </a:ext>
            </a:extLst>
          </p:cNvPr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4F0523-5CA9-DC9A-9BE8-F7B20502CDA6}"/>
              </a:ext>
            </a:extLst>
          </p:cNvPr>
          <p:cNvSpPr/>
          <p:nvPr/>
        </p:nvSpPr>
        <p:spPr>
          <a:xfrm>
            <a:off x="762000" y="1905000"/>
            <a:ext cx="15076714" cy="5969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5D3794D-7868-5131-C746-C913D3E95EDC}"/>
              </a:ext>
            </a:extLst>
          </p:cNvPr>
          <p:cNvSpPr/>
          <p:nvPr/>
        </p:nvSpPr>
        <p:spPr>
          <a:xfrm>
            <a:off x="1016000" y="2070100"/>
            <a:ext cx="14478000" cy="542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4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Journey Stage: Awareness Strategic Goal: Quick personal tip about tire safety + introduce Tire Check</a:t>
            </a:r>
          </a:p>
          <a:p>
            <a:r>
              <a:rPr lang="en-US" sz="4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Execution Requirements</a:t>
            </a:r>
          </a:p>
          <a:p>
            <a:r>
              <a:rPr lang="en-US" sz="4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• </a:t>
            </a:r>
            <a:r>
              <a:rPr lang="en-GB" sz="4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Must be filmed by one or more group members</a:t>
            </a:r>
          </a:p>
          <a:p>
            <a:r>
              <a:rPr lang="en-US" sz="4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• </a:t>
            </a:r>
            <a:r>
              <a:rPr lang="en-GB" sz="4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Shows your face (personal branding)</a:t>
            </a:r>
          </a:p>
          <a:p>
            <a:r>
              <a:rPr lang="en-US" sz="4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• Max 30 seconds</a:t>
            </a:r>
          </a:p>
          <a:p>
            <a:r>
              <a:rPr lang="en-US" sz="4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Script (15–20 seconds)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B0D486A-48D9-62B0-96E7-A6E860D4396F}"/>
              </a:ext>
            </a:extLst>
          </p:cNvPr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1337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BD89-13F3-FFAB-0B34-2F57F92D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A13E0E0-6FEE-7F5C-BBAD-42F86519003E}"/>
              </a:ext>
            </a:extLst>
          </p:cNvPr>
          <p:cNvSpPr/>
          <p:nvPr/>
        </p:nvSpPr>
        <p:spPr>
          <a:xfrm>
            <a:off x="0" y="0"/>
            <a:ext cx="16440150" cy="9144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F68E739-6713-BA5A-D350-8C8AD8CEE082}"/>
              </a:ext>
            </a:extLst>
          </p:cNvPr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GB" sz="3600" kern="0" spc="200" dirty="0">
                <a:solidFill>
                  <a:srgbClr val="F5F5F7"/>
                </a:solidFill>
                <a:latin typeface="Bell MT" panose="02020503060305020303" pitchFamily="18" charset="0"/>
              </a:rPr>
              <a:t>Y</a:t>
            </a: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</a:rPr>
              <a:t>outube Long Form Script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738136-3154-7011-5277-9FDD79282F74}"/>
              </a:ext>
            </a:extLst>
          </p:cNvPr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131021D-F3BD-9AF2-AE90-F34555D8872A}"/>
              </a:ext>
            </a:extLst>
          </p:cNvPr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2D70C2-28E5-2B65-0B15-BB5554A3C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744049"/>
              </p:ext>
            </p:extLst>
          </p:nvPr>
        </p:nvGraphicFramePr>
        <p:xfrm>
          <a:off x="761999" y="1644054"/>
          <a:ext cx="15109371" cy="678874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036457">
                  <a:extLst>
                    <a:ext uri="{9D8B030D-6E8A-4147-A177-3AD203B41FA5}">
                      <a16:colId xmlns:a16="http://schemas.microsoft.com/office/drawing/2014/main" val="2823816297"/>
                    </a:ext>
                  </a:extLst>
                </a:gridCol>
                <a:gridCol w="5036457">
                  <a:extLst>
                    <a:ext uri="{9D8B030D-6E8A-4147-A177-3AD203B41FA5}">
                      <a16:colId xmlns:a16="http://schemas.microsoft.com/office/drawing/2014/main" val="3507898952"/>
                    </a:ext>
                  </a:extLst>
                </a:gridCol>
                <a:gridCol w="5036457">
                  <a:extLst>
                    <a:ext uri="{9D8B030D-6E8A-4147-A177-3AD203B41FA5}">
                      <a16:colId xmlns:a16="http://schemas.microsoft.com/office/drawing/2014/main" val="3587920277"/>
                    </a:ext>
                  </a:extLst>
                </a:gridCol>
              </a:tblGrid>
              <a:tr h="982352">
                <a:tc>
                  <a:txBody>
                    <a:bodyPr/>
                    <a:lstStyle/>
                    <a:p>
                      <a:r>
                        <a:rPr lang="en-GB" sz="2000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Time</a:t>
                      </a:r>
                      <a:endParaRPr lang="en-US" sz="2000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On – Camera Action</a:t>
                      </a:r>
                      <a:endParaRPr lang="en-US" sz="2000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Audio (VO or Speaking)</a:t>
                      </a:r>
                      <a:endParaRPr lang="en-US" sz="2000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728925"/>
                  </a:ext>
                </a:extLst>
              </a:tr>
              <a:tr h="11671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0:00–0:02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Host walking up to car, standing next to tire</a:t>
                      </a:r>
                      <a:endParaRPr lang="en-US" sz="20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ar-EG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 كل الناس بتسأل إيه هو </a:t>
                      </a:r>
                      <a:r>
                        <a:rPr lang="en-US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Tier Check 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832875"/>
                  </a:ext>
                </a:extLst>
              </a:tr>
              <a:tr h="11671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0:02–0:05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Host taps the tire, looks at camera</a:t>
                      </a:r>
                      <a:endParaRPr lang="en-US" sz="20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ar-EG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 ما تقول طيب قول "</a:t>
                      </a:r>
                      <a:endParaRPr lang="en-US" sz="20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669178"/>
                  </a:ext>
                </a:extLst>
              </a:tr>
              <a:tr h="11671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0:05–0:11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Host talks to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 Tier Check </a:t>
                      </a:r>
                      <a:r>
                        <a:rPr lang="ar-EG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هو </a:t>
                      </a:r>
                      <a:r>
                        <a:rPr lang="en-US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sensor </a:t>
                      </a:r>
                      <a:r>
                        <a:rPr lang="ar-EG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بيتركب في كل</a:t>
                      </a:r>
                    </a:p>
                    <a:p>
                      <a:pPr marL="0" algn="l" defTabSz="914400" rtl="0" eaLnBrk="1" latinLnBrk="0" hangingPunct="1"/>
                      <a:r>
                        <a:rPr lang="ar-EG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فرده بيقيس ضخط الكاوتش وده هيساعدك في انه</a:t>
                      </a:r>
                    </a:p>
                    <a:p>
                      <a:pPr marL="0" algn="l" defTabSz="914400" rtl="0" eaLnBrk="1" latinLnBrk="0" hangingPunct="1"/>
                      <a:r>
                        <a:rPr lang="ar-EG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يزود عمر الكاوتش و يحسن استهلاك البنزين"</a:t>
                      </a:r>
                      <a:endParaRPr lang="en-US" sz="20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265759"/>
                  </a:ext>
                </a:extLst>
              </a:tr>
              <a:tr h="113793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0:11–0:19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Host in 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ar-EG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 و كمان مش بس كده في خصم 20 % لأول 50</a:t>
                      </a:r>
                    </a:p>
                    <a:p>
                      <a:pPr marL="0" algn="l" defTabSz="914400" rtl="0" eaLnBrk="1" latinLnBrk="0" hangingPunct="1"/>
                      <a:r>
                        <a:rPr lang="ar-EG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واحد هيطلبوا لو عايز تطلبوا اللينك في البايو او</a:t>
                      </a:r>
                    </a:p>
                    <a:p>
                      <a:pPr marL="0" algn="l" defTabSz="914400" rtl="0" eaLnBrk="1" latinLnBrk="0" hangingPunct="1"/>
                      <a:r>
                        <a:rPr lang="ar-EG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علي رقم التلفون ده "</a:t>
                      </a:r>
                      <a:endParaRPr lang="en-US" sz="20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480955"/>
                  </a:ext>
                </a:extLst>
              </a:tr>
              <a:tr h="11671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0:19–0:20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Host points down to video caption</a:t>
                      </a:r>
                      <a:endParaRPr lang="en-US" sz="20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ar-EG" sz="2000" b="1" kern="1200" dirty="0">
                          <a:solidFill>
                            <a:srgbClr val="8E8E93"/>
                          </a:solidFill>
                          <a:latin typeface="Bell MT" panose="02020503060305020303" pitchFamily="18" charset="0"/>
                          <a:ea typeface="QuattrocentoSans" pitchFamily="34" charset="-122"/>
                          <a:cs typeface="+mn-cs"/>
                        </a:rPr>
                        <a:t>" وعشان كده "</a:t>
                      </a:r>
                      <a:endParaRPr lang="en-US" sz="2000" b="1" kern="1200" dirty="0">
                        <a:solidFill>
                          <a:srgbClr val="8E8E93"/>
                        </a:solidFill>
                        <a:latin typeface="Bell MT" panose="02020503060305020303" pitchFamily="18" charset="0"/>
                        <a:ea typeface="QuattrocentoSans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58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81196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Finals for the TikTok</a:t>
            </a:r>
            <a:endParaRPr lang="en-US" sz="3600" dirty="0">
              <a:latin typeface="Bell MT" panose="020205030603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How to reach the video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16000" y="292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6000" y="368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Caption for TikTok / Reels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4318000"/>
            <a:ext cx="406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GB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Flat tires ruin mornings Tire Check sends an alert before you drive. #tiresafety #cartok #carlife</a:t>
            </a:r>
            <a:endParaRPr lang="en-US" sz="2800" dirty="0">
              <a:solidFill>
                <a:srgbClr val="8E8E93"/>
              </a:solidFill>
              <a:latin typeface="Bell MT" panose="02020503060305020303" pitchFamily="18" charset="0"/>
              <a:ea typeface="QuattrocentoSans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64250" y="292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505420" y="97830"/>
                </a:moveTo>
                <a:cubicBezTo>
                  <a:pt x="512961" y="90289"/>
                  <a:pt x="525562" y="92174"/>
                  <a:pt x="529332" y="102096"/>
                </a:cubicBezTo>
                <a:cubicBezTo>
                  <a:pt x="536079" y="119658"/>
                  <a:pt x="539750" y="138807"/>
                  <a:pt x="539750" y="158750"/>
                </a:cubicBezTo>
                <a:cubicBezTo>
                  <a:pt x="539750" y="246459"/>
                  <a:pt x="468709" y="317500"/>
                  <a:pt x="381000" y="317500"/>
                </a:cubicBezTo>
                <a:cubicBezTo>
                  <a:pt x="363637" y="317500"/>
                  <a:pt x="346869" y="314722"/>
                  <a:pt x="331192" y="309562"/>
                </a:cubicBezTo>
                <a:lnTo>
                  <a:pt x="145752" y="495002"/>
                </a:lnTo>
                <a:cubicBezTo>
                  <a:pt x="117872" y="522883"/>
                  <a:pt x="72628" y="522883"/>
                  <a:pt x="44748" y="495002"/>
                </a:cubicBezTo>
                <a:cubicBezTo>
                  <a:pt x="16867" y="467122"/>
                  <a:pt x="16867" y="421878"/>
                  <a:pt x="44748" y="393998"/>
                </a:cubicBezTo>
                <a:lnTo>
                  <a:pt x="230188" y="208558"/>
                </a:lnTo>
                <a:cubicBezTo>
                  <a:pt x="225028" y="192881"/>
                  <a:pt x="222250" y="176213"/>
                  <a:pt x="222250" y="158750"/>
                </a:cubicBezTo>
                <a:cubicBezTo>
                  <a:pt x="222250" y="71041"/>
                  <a:pt x="293291" y="0"/>
                  <a:pt x="381000" y="0"/>
                </a:cubicBezTo>
                <a:cubicBezTo>
                  <a:pt x="400943" y="0"/>
                  <a:pt x="420092" y="3671"/>
                  <a:pt x="437654" y="10418"/>
                </a:cubicBezTo>
                <a:cubicBezTo>
                  <a:pt x="447576" y="14188"/>
                  <a:pt x="449362" y="26789"/>
                  <a:pt x="441920" y="34330"/>
                </a:cubicBezTo>
                <a:lnTo>
                  <a:pt x="353913" y="122337"/>
                </a:lnTo>
                <a:cubicBezTo>
                  <a:pt x="350937" y="125313"/>
                  <a:pt x="349250" y="129381"/>
                  <a:pt x="349250" y="133548"/>
                </a:cubicBezTo>
                <a:lnTo>
                  <a:pt x="349250" y="174625"/>
                </a:lnTo>
                <a:cubicBezTo>
                  <a:pt x="349250" y="183356"/>
                  <a:pt x="356394" y="190500"/>
                  <a:pt x="365125" y="190500"/>
                </a:cubicBezTo>
                <a:lnTo>
                  <a:pt x="406202" y="190500"/>
                </a:lnTo>
                <a:cubicBezTo>
                  <a:pt x="410369" y="190500"/>
                  <a:pt x="414437" y="188813"/>
                  <a:pt x="417413" y="185837"/>
                </a:cubicBezTo>
                <a:lnTo>
                  <a:pt x="505420" y="97830"/>
                </a:ln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0" y="368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Hashtags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0" y="4318000"/>
            <a:ext cx="406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GB" sz="2800" dirty="0">
                <a:solidFill>
                  <a:srgbClr val="8E8E93"/>
                </a:solidFill>
                <a:latin typeface="Bell MT" panose="02020503060305020303" pitchFamily="18" charset="0"/>
                <a:ea typeface="QuattrocentoSans" pitchFamily="34" charset="-122"/>
              </a:rPr>
              <a:t>#tirecheck #tiresafety #cartok #cardiy #cartips</a:t>
            </a:r>
            <a:endParaRPr lang="en-US" sz="2800" dirty="0">
              <a:solidFill>
                <a:srgbClr val="8E8E93"/>
              </a:solidFill>
              <a:latin typeface="Bell MT" panose="02020503060305020303" pitchFamily="18" charset="0"/>
              <a:ea typeface="QuattrocentoSans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922000" y="2540000"/>
            <a:ext cx="4572000" cy="53340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144250" y="292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-31750"/>
                </a:moveTo>
                <a:cubicBezTo>
                  <a:pt x="338320" y="-31750"/>
                  <a:pt x="381000" y="10930"/>
                  <a:pt x="381000" y="63500"/>
                </a:cubicBezTo>
                <a:cubicBezTo>
                  <a:pt x="381000" y="116070"/>
                  <a:pt x="338320" y="158750"/>
                  <a:pt x="285750" y="158750"/>
                </a:cubicBezTo>
                <a:cubicBezTo>
                  <a:pt x="233180" y="158750"/>
                  <a:pt x="190500" y="116070"/>
                  <a:pt x="190500" y="63500"/>
                </a:cubicBezTo>
                <a:cubicBezTo>
                  <a:pt x="190500" y="10930"/>
                  <a:pt x="233180" y="-31750"/>
                  <a:pt x="285750" y="-31750"/>
                </a:cubicBezTo>
                <a:close/>
                <a:moveTo>
                  <a:pt x="47625" y="301625"/>
                </a:moveTo>
                <a:cubicBezTo>
                  <a:pt x="47625" y="232073"/>
                  <a:pt x="94258" y="171252"/>
                  <a:pt x="163810" y="138013"/>
                </a:cubicBezTo>
                <a:cubicBezTo>
                  <a:pt x="188913" y="178991"/>
                  <a:pt x="234156" y="206375"/>
                  <a:pt x="285750" y="206375"/>
                </a:cubicBezTo>
                <a:cubicBezTo>
                  <a:pt x="341015" y="206375"/>
                  <a:pt x="389037" y="174923"/>
                  <a:pt x="412750" y="128984"/>
                </a:cubicBezTo>
                <a:cubicBezTo>
                  <a:pt x="428427" y="117773"/>
                  <a:pt x="447576" y="111125"/>
                  <a:pt x="468313" y="111125"/>
                </a:cubicBezTo>
                <a:lnTo>
                  <a:pt x="487660" y="111125"/>
                </a:lnTo>
                <a:cubicBezTo>
                  <a:pt x="497979" y="111125"/>
                  <a:pt x="505520" y="120848"/>
                  <a:pt x="503039" y="130870"/>
                </a:cubicBezTo>
                <a:lnTo>
                  <a:pt x="486073" y="198636"/>
                </a:lnTo>
                <a:cubicBezTo>
                  <a:pt x="495895" y="210939"/>
                  <a:pt x="504130" y="224135"/>
                  <a:pt x="510282" y="238125"/>
                </a:cubicBezTo>
                <a:lnTo>
                  <a:pt x="531813" y="238125"/>
                </a:lnTo>
                <a:cubicBezTo>
                  <a:pt x="545009" y="238125"/>
                  <a:pt x="555625" y="248741"/>
                  <a:pt x="555625" y="261937"/>
                </a:cubicBezTo>
                <a:lnTo>
                  <a:pt x="555625" y="373063"/>
                </a:lnTo>
                <a:cubicBezTo>
                  <a:pt x="555625" y="386259"/>
                  <a:pt x="545009" y="396875"/>
                  <a:pt x="531813" y="396875"/>
                </a:cubicBezTo>
                <a:lnTo>
                  <a:pt x="492125" y="396875"/>
                </a:lnTo>
                <a:cubicBezTo>
                  <a:pt x="475754" y="418703"/>
                  <a:pt x="453926" y="436166"/>
                  <a:pt x="428625" y="447179"/>
                </a:cubicBezTo>
                <a:lnTo>
                  <a:pt x="428625" y="476250"/>
                </a:lnTo>
                <a:cubicBezTo>
                  <a:pt x="428625" y="493812"/>
                  <a:pt x="414437" y="508000"/>
                  <a:pt x="396875" y="508000"/>
                </a:cubicBezTo>
                <a:lnTo>
                  <a:pt x="364133" y="508000"/>
                </a:lnTo>
                <a:cubicBezTo>
                  <a:pt x="349945" y="508000"/>
                  <a:pt x="337542" y="498574"/>
                  <a:pt x="333573" y="484981"/>
                </a:cubicBezTo>
                <a:lnTo>
                  <a:pt x="326529" y="460375"/>
                </a:lnTo>
                <a:lnTo>
                  <a:pt x="244872" y="460375"/>
                </a:lnTo>
                <a:lnTo>
                  <a:pt x="237827" y="484981"/>
                </a:lnTo>
                <a:cubicBezTo>
                  <a:pt x="233958" y="498574"/>
                  <a:pt x="221555" y="508000"/>
                  <a:pt x="207367" y="508000"/>
                </a:cubicBezTo>
                <a:lnTo>
                  <a:pt x="174625" y="508000"/>
                </a:lnTo>
                <a:cubicBezTo>
                  <a:pt x="157063" y="508000"/>
                  <a:pt x="142875" y="493812"/>
                  <a:pt x="142875" y="476250"/>
                </a:cubicBezTo>
                <a:lnTo>
                  <a:pt x="142875" y="447179"/>
                </a:lnTo>
                <a:cubicBezTo>
                  <a:pt x="86816" y="422672"/>
                  <a:pt x="47625" y="366713"/>
                  <a:pt x="47625" y="301625"/>
                </a:cubicBezTo>
                <a:close/>
                <a:moveTo>
                  <a:pt x="420688" y="317500"/>
                </a:moveTo>
                <a:cubicBezTo>
                  <a:pt x="433830" y="317500"/>
                  <a:pt x="444500" y="306830"/>
                  <a:pt x="444500" y="293688"/>
                </a:cubicBezTo>
                <a:cubicBezTo>
                  <a:pt x="444500" y="280545"/>
                  <a:pt x="433830" y="269875"/>
                  <a:pt x="420688" y="269875"/>
                </a:cubicBezTo>
                <a:cubicBezTo>
                  <a:pt x="407545" y="269875"/>
                  <a:pt x="396875" y="280545"/>
                  <a:pt x="396875" y="293688"/>
                </a:cubicBezTo>
                <a:cubicBezTo>
                  <a:pt x="396875" y="306830"/>
                  <a:pt x="407545" y="317500"/>
                  <a:pt x="420688" y="317500"/>
                </a:cubicBezTo>
                <a:close/>
              </a:path>
            </a:pathLst>
          </a:custGeom>
          <a:solidFill>
            <a:srgbClr val="E63946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176000" y="368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Drive Link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144250" y="4318000"/>
            <a:ext cx="409575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GB" sz="4000" dirty="0">
                <a:latin typeface="Bell MT" panose="02020503060305020303" pitchFamily="18" charset="0"/>
                <a:hlinkClick r:id="rId3"/>
              </a:rPr>
              <a:t>Digital Marketing Project - Google Drive</a:t>
            </a:r>
            <a:endParaRPr lang="en-US" sz="4000" dirty="0">
              <a:latin typeface="Bell MT" panose="020205030603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34174" b="3417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0F14">
                  <a:alpha val="19000"/>
                </a:srgbClr>
              </a:gs>
              <a:gs pos="30000">
                <a:srgbClr val="0F0F14">
                  <a:alpha val="50000"/>
                </a:srgbClr>
              </a:gs>
              <a:gs pos="100000">
                <a:srgbClr val="0F0F14">
                  <a:alpha val="88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778000" y="2540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kern="0" spc="3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CHECK YOUR RUBBER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778000" y="3683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kern="0" spc="300" dirty="0">
                <a:solidFill>
                  <a:srgbClr val="E63946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BEFORE YOU SUFFER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858000" y="4953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048000" y="5334000"/>
            <a:ext cx="1016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Join the first 50 customers to secure a </a:t>
            </a:r>
            <a:r>
              <a:rPr lang="en-US" sz="2200" b="1" dirty="0">
                <a:solidFill>
                  <a:srgbClr val="E63946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20% discount</a:t>
            </a:r>
            <a:endParaRPr lang="en-US" sz="1600" dirty="0">
              <a:latin typeface="Bell MT" panose="020205030603050203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5F5F7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and make every drive a safe ride.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318000" y="673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E8E93"/>
                </a:solidFill>
                <a:latin typeface="Bell MT" panose="02020503060305020303" pitchFamily="18" charset="0"/>
                <a:ea typeface="Quattrocento Sans" pitchFamily="34" charset="-122"/>
                <a:cs typeface="Quattrocento Sans" pitchFamily="34" charset="-120"/>
              </a:rPr>
              <a:t>Tire Check Team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18000" y="736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kern="0" spc="200" dirty="0">
                <a:solidFill>
                  <a:srgbClr val="F5F5F7"/>
                </a:solidFill>
                <a:latin typeface="Bell MT" panose="02020503060305020303" pitchFamily="18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8636000"/>
            <a:ext cx="2540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1807</Words>
  <Application>Microsoft Office PowerPoint</Application>
  <PresentationFormat>Custom</PresentationFormat>
  <Paragraphs>289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Bell MT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Tire Check - Product Launch &amp; Marketing Strategy</dc:title>
  <dc:subject>Tire Check - Product Launch &amp; Marketing Strategy</dc:subject>
  <dc:creator>Kimi</dc:creator>
  <cp:lastModifiedBy>Rafael Magdy George Missiha</cp:lastModifiedBy>
  <cp:revision>2</cp:revision>
  <dcterms:created xsi:type="dcterms:W3CDTF">2026-04-29T19:36:25Z</dcterms:created>
  <dcterms:modified xsi:type="dcterms:W3CDTF">2026-04-29T21:05:12Z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{"Label":"Tire Check - Product Launch &amp; Marketing Strategy","ContentProducer":"001191110108MACG2KBH8F10000","ProduceID":"19dda86b-d962-83d4-8000-0000c6b9585b","ReservedCode1":"","ContentPropagator":"001191110108MACG2KBH8F20000","PropagateID":"19dda86b-d962-83d4-8000-0000c6b9585b","ReservedCode2":""}</vt:lpwstr>
  </property>
</Properties>
</file>